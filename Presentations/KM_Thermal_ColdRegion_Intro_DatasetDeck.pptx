
<file path=[Content_Types].xml><?xml version="1.0" encoding="utf-8"?>
<Types xmlns="http://schemas.openxmlformats.org/package/2006/content-types">
  <Default Extension="bin" ContentType="image/unknown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71" r:id="rId3"/>
    <p:sldId id="257" r:id="rId4"/>
    <p:sldId id="258" r:id="rId5"/>
    <p:sldId id="259" r:id="rId6"/>
    <p:sldId id="260" r:id="rId7"/>
    <p:sldId id="272" r:id="rId8"/>
    <p:sldId id="273" r:id="rId9"/>
    <p:sldId id="274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2B36"/>
    <a:srgbClr val="44546A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12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0376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9954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88720" y="1876693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Abdominal Cold-Region Segmentation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155716" y="2438566"/>
            <a:ext cx="788056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B8C7D0"/>
                </a:solidFill>
              </a:rPr>
              <a:t>From Korean Medicine palpation expertise to objective thermal-imaging AI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440544" y="3407226"/>
            <a:ext cx="3310910" cy="1115568"/>
          </a:xfrm>
          <a:prstGeom prst="roundRect">
            <a:avLst>
              <a:gd name="adj" fmla="val 11475"/>
            </a:avLst>
          </a:prstGeom>
          <a:solidFill>
            <a:srgbClr val="15222B"/>
          </a:solidFill>
          <a:ln w="12700">
            <a:solidFill>
              <a:srgbClr val="2A3B47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79213" y="3493850"/>
            <a:ext cx="3433572" cy="822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chemeClr val="bg2"/>
                </a:solidFill>
              </a:rPr>
              <a:t>Rafsan Jany (02513052)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chemeClr val="bg2"/>
                </a:solidFill>
              </a:rPr>
              <a:t>Integrated Program (3</a:t>
            </a:r>
            <a:r>
              <a:rPr lang="en-US" sz="1600" b="1" baseline="30000" dirty="0">
                <a:solidFill>
                  <a:schemeClr val="bg2"/>
                </a:solidFill>
              </a:rPr>
              <a:t>rd</a:t>
            </a:r>
            <a:r>
              <a:rPr lang="en-US" sz="1600" b="1" dirty="0">
                <a:solidFill>
                  <a:schemeClr val="bg2"/>
                </a:solidFill>
              </a:rPr>
              <a:t> Semester)</a:t>
            </a:r>
          </a:p>
        </p:txBody>
      </p:sp>
      <p:sp>
        <p:nvSpPr>
          <p:cNvPr id="19" name="Text 17"/>
          <p:cNvSpPr/>
          <p:nvPr/>
        </p:nvSpPr>
        <p:spPr>
          <a:xfrm>
            <a:off x="1143000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0818A"/>
                </a:solidFill>
              </a:rPr>
              <a:t>01</a:t>
            </a:r>
            <a:endParaRPr lang="en-US" sz="95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39C07C5-BD00-6E8C-7CC3-0019FC02D720}"/>
              </a:ext>
            </a:extLst>
          </p:cNvPr>
          <p:cNvGrpSpPr/>
          <p:nvPr/>
        </p:nvGrpSpPr>
        <p:grpSpPr>
          <a:xfrm>
            <a:off x="0" y="0"/>
            <a:ext cx="12182856" cy="82905"/>
            <a:chOff x="0" y="143628"/>
            <a:chExt cx="12182856" cy="158123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9C0B7DD-28FF-5A4B-909F-F1F32F76B1D2}"/>
                </a:ext>
              </a:extLst>
            </p:cNvPr>
            <p:cNvSpPr/>
            <p:nvPr/>
          </p:nvSpPr>
          <p:spPr>
            <a:xfrm>
              <a:off x="0" y="143628"/>
              <a:ext cx="9815079" cy="158123"/>
            </a:xfrm>
            <a:prstGeom prst="rect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6BE8A8F-1ADA-200E-8B9B-93DBE125D261}"/>
                </a:ext>
              </a:extLst>
            </p:cNvPr>
            <p:cNvSpPr/>
            <p:nvPr/>
          </p:nvSpPr>
          <p:spPr>
            <a:xfrm>
              <a:off x="9815079" y="143629"/>
              <a:ext cx="993129" cy="158122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E4B886F-DCE6-EF8C-1018-CC8EA73B0A09}"/>
                </a:ext>
              </a:extLst>
            </p:cNvPr>
            <p:cNvSpPr/>
            <p:nvPr/>
          </p:nvSpPr>
          <p:spPr>
            <a:xfrm>
              <a:off x="10808208" y="143628"/>
              <a:ext cx="1374648" cy="158121"/>
            </a:xfrm>
            <a:prstGeom prst="rect">
              <a:avLst/>
            </a:prstGeom>
            <a:gradFill flip="none" rotWithShape="1">
              <a:gsLst>
                <a:gs pos="0">
                  <a:srgbClr val="C00000">
                    <a:shade val="30000"/>
                    <a:satMod val="115000"/>
                  </a:srgbClr>
                </a:gs>
                <a:gs pos="50000">
                  <a:srgbClr val="C00000">
                    <a:shade val="67500"/>
                    <a:satMod val="115000"/>
                  </a:srgbClr>
                </a:gs>
                <a:gs pos="100000">
                  <a:srgbClr val="C00000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9" name="Picture 51">
            <a:extLst>
              <a:ext uri="{FF2B5EF4-FFF2-40B4-BE49-F238E27FC236}">
                <a16:creationId xmlns:a16="http://schemas.microsoft.com/office/drawing/2014/main" id="{7139959D-ADA4-F44D-70DF-559F8E13F9DE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9992162" y="205508"/>
            <a:ext cx="2144643" cy="1125272"/>
          </a:xfrm>
          <a:prstGeom prst="rect">
            <a:avLst/>
          </a:prstGeom>
          <a:ln w="0">
            <a:noFill/>
          </a:ln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694F7A9A-FA4F-47C7-79A2-52572D6EA08F}"/>
              </a:ext>
            </a:extLst>
          </p:cNvPr>
          <p:cNvGrpSpPr/>
          <p:nvPr/>
        </p:nvGrpSpPr>
        <p:grpSpPr>
          <a:xfrm>
            <a:off x="0" y="173634"/>
            <a:ext cx="1739590" cy="1599410"/>
            <a:chOff x="2776654" y="168002"/>
            <a:chExt cx="6809700" cy="6689998"/>
          </a:xfrm>
        </p:grpSpPr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C6D6AABA-3FF3-2A94-AE22-5E46251D4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776654" y="168002"/>
              <a:ext cx="6809700" cy="6689998"/>
            </a:xfrm>
            <a:prstGeom prst="rect">
              <a:avLst/>
            </a:prstGeom>
          </p:spPr>
        </p:pic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DC4B206A-B8D7-05D6-D403-F6C381980585}"/>
                </a:ext>
              </a:extLst>
            </p:cNvPr>
            <p:cNvSpPr/>
            <p:nvPr/>
          </p:nvSpPr>
          <p:spPr>
            <a:xfrm>
              <a:off x="9038844" y="6264375"/>
              <a:ext cx="376502" cy="429033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77CDF471-9CE4-3393-3188-9B9046E43D1C}"/>
              </a:ext>
            </a:extLst>
          </p:cNvPr>
          <p:cNvGrpSpPr/>
          <p:nvPr/>
        </p:nvGrpSpPr>
        <p:grpSpPr>
          <a:xfrm>
            <a:off x="1647814" y="2952725"/>
            <a:ext cx="9125415" cy="45719"/>
            <a:chOff x="0" y="143628"/>
            <a:chExt cx="12182856" cy="158123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013084C9-8CC1-BDE9-8881-8680D757B6AC}"/>
                </a:ext>
              </a:extLst>
            </p:cNvPr>
            <p:cNvSpPr/>
            <p:nvPr/>
          </p:nvSpPr>
          <p:spPr>
            <a:xfrm>
              <a:off x="0" y="143628"/>
              <a:ext cx="9815079" cy="158123"/>
            </a:xfrm>
            <a:prstGeom prst="rect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42E6A9F9-7412-5D5F-3AFB-225185368966}"/>
                </a:ext>
              </a:extLst>
            </p:cNvPr>
            <p:cNvSpPr/>
            <p:nvPr/>
          </p:nvSpPr>
          <p:spPr>
            <a:xfrm>
              <a:off x="9815079" y="143629"/>
              <a:ext cx="993129" cy="158122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7A27BE09-2309-F63C-5C29-66CF6D60D9B2}"/>
                </a:ext>
              </a:extLst>
            </p:cNvPr>
            <p:cNvSpPr/>
            <p:nvPr/>
          </p:nvSpPr>
          <p:spPr>
            <a:xfrm>
              <a:off x="10808208" y="143628"/>
              <a:ext cx="1374648" cy="158121"/>
            </a:xfrm>
            <a:prstGeom prst="rect">
              <a:avLst/>
            </a:prstGeom>
            <a:gradFill flip="none" rotWithShape="1">
              <a:gsLst>
                <a:gs pos="0">
                  <a:srgbClr val="C00000">
                    <a:shade val="30000"/>
                    <a:satMod val="115000"/>
                  </a:srgbClr>
                </a:gs>
                <a:gs pos="50000">
                  <a:srgbClr val="C00000">
                    <a:shade val="67500"/>
                    <a:satMod val="115000"/>
                  </a:srgbClr>
                </a:gs>
                <a:gs pos="100000">
                  <a:srgbClr val="C00000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Shape 4">
            <a:extLst>
              <a:ext uri="{FF2B5EF4-FFF2-40B4-BE49-F238E27FC236}">
                <a16:creationId xmlns:a16="http://schemas.microsoft.com/office/drawing/2014/main" id="{F4678E3F-C6A4-62EF-1660-6CF738EBDB7B}"/>
              </a:ext>
            </a:extLst>
          </p:cNvPr>
          <p:cNvSpPr/>
          <p:nvPr/>
        </p:nvSpPr>
        <p:spPr>
          <a:xfrm>
            <a:off x="4440544" y="1187347"/>
            <a:ext cx="3310910" cy="401793"/>
          </a:xfrm>
          <a:prstGeom prst="roundRect">
            <a:avLst>
              <a:gd name="adj" fmla="val 11475"/>
            </a:avLst>
          </a:prstGeom>
          <a:solidFill>
            <a:srgbClr val="15222B"/>
          </a:solidFill>
          <a:ln w="12700">
            <a:solidFill>
              <a:srgbClr val="2A3B47">
                <a:alpha val="80000"/>
              </a:srgbClr>
            </a:solidFill>
            <a:prstDash val="solid"/>
          </a:ln>
        </p:spPr>
        <p:txBody>
          <a:bodyPr/>
          <a:lstStyle/>
          <a:p>
            <a:pPr algn="ctr"/>
            <a:r>
              <a:rPr lang="en-US" sz="1800" b="1" i="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KopubWorld Dotum"/>
              </a:rPr>
              <a:t>KM Informatics and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66928" y="74980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chemeClr val="bg1"/>
                </a:solidFill>
              </a:rPr>
              <a:t>Basic Idea</a:t>
            </a:r>
          </a:p>
        </p:txBody>
      </p:sp>
      <p:sp>
        <p:nvSpPr>
          <p:cNvPr id="6" name="Shape 4"/>
          <p:cNvSpPr/>
          <p:nvPr/>
        </p:nvSpPr>
        <p:spPr>
          <a:xfrm>
            <a:off x="1913354" y="1651779"/>
            <a:ext cx="2788920" cy="1115568"/>
          </a:xfrm>
          <a:prstGeom prst="roundRect">
            <a:avLst>
              <a:gd name="adj" fmla="val 11475"/>
            </a:avLst>
          </a:prstGeom>
          <a:solidFill>
            <a:srgbClr val="15222B"/>
          </a:solidFill>
          <a:ln w="12700">
            <a:solidFill>
              <a:srgbClr val="2A3B47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23666" y="1834659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B84D"/>
                </a:solidFill>
              </a:rPr>
              <a:t>Clinical signal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123666" y="2182131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4F8FA"/>
                </a:solidFill>
              </a:rPr>
              <a:t>“Feeling of cold” during abdominal palpation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958306" y="1651779"/>
            <a:ext cx="2788920" cy="1115568"/>
          </a:xfrm>
          <a:prstGeom prst="roundRect">
            <a:avLst>
              <a:gd name="adj" fmla="val 11475"/>
            </a:avLst>
          </a:prstGeom>
          <a:solidFill>
            <a:srgbClr val="15222B"/>
          </a:solidFill>
          <a:ln w="12700">
            <a:solidFill>
              <a:srgbClr val="2A3B47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68618" y="1834659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DD7FF"/>
                </a:solidFill>
              </a:rPr>
              <a:t>Imaging proxy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68618" y="2182131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4F8FA"/>
                </a:solidFill>
              </a:rPr>
              <a:t>FIR thermal image of abdominal region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03258" y="1651779"/>
            <a:ext cx="2788920" cy="1115568"/>
          </a:xfrm>
          <a:prstGeom prst="roundRect">
            <a:avLst>
              <a:gd name="adj" fmla="val 11475"/>
            </a:avLst>
          </a:prstGeom>
          <a:solidFill>
            <a:srgbClr val="15222B"/>
          </a:solidFill>
          <a:ln w="12700">
            <a:solidFill>
              <a:srgbClr val="2A3B47">
                <a:alpha val="8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13570" y="1834659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E582"/>
                </a:solidFill>
              </a:rPr>
              <a:t>AI target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13570" y="2182131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4F8FA"/>
                </a:solidFill>
              </a:rPr>
              <a:t>Pixel-level cold-region mask reproducible across subjects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757138" y="2209563"/>
            <a:ext cx="155448" cy="0"/>
          </a:xfrm>
          <a:prstGeom prst="line">
            <a:avLst/>
          </a:prstGeom>
          <a:noFill/>
          <a:ln w="12700">
            <a:solidFill>
              <a:srgbClr val="FFB84D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802090" y="2209563"/>
            <a:ext cx="155448" cy="0"/>
          </a:xfrm>
          <a:prstGeom prst="line">
            <a:avLst/>
          </a:prstGeom>
          <a:noFill/>
          <a:ln w="12700">
            <a:solidFill>
              <a:srgbClr val="FFB84D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143000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0818A"/>
                </a:solidFill>
              </a:rPr>
              <a:t>01</a:t>
            </a:r>
            <a:endParaRPr lang="en-US" sz="95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39C07C5-BD00-6E8C-7CC3-0019FC02D720}"/>
              </a:ext>
            </a:extLst>
          </p:cNvPr>
          <p:cNvGrpSpPr/>
          <p:nvPr/>
        </p:nvGrpSpPr>
        <p:grpSpPr>
          <a:xfrm>
            <a:off x="0" y="0"/>
            <a:ext cx="12182856" cy="45719"/>
            <a:chOff x="0" y="143628"/>
            <a:chExt cx="12182856" cy="158123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9C0B7DD-28FF-5A4B-909F-F1F32F76B1D2}"/>
                </a:ext>
              </a:extLst>
            </p:cNvPr>
            <p:cNvSpPr/>
            <p:nvPr/>
          </p:nvSpPr>
          <p:spPr>
            <a:xfrm>
              <a:off x="0" y="143628"/>
              <a:ext cx="9815079" cy="158123"/>
            </a:xfrm>
            <a:prstGeom prst="rect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6BE8A8F-1ADA-200E-8B9B-93DBE125D261}"/>
                </a:ext>
              </a:extLst>
            </p:cNvPr>
            <p:cNvSpPr/>
            <p:nvPr/>
          </p:nvSpPr>
          <p:spPr>
            <a:xfrm>
              <a:off x="9815079" y="143629"/>
              <a:ext cx="993129" cy="158122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E4B886F-DCE6-EF8C-1018-CC8EA73B0A09}"/>
                </a:ext>
              </a:extLst>
            </p:cNvPr>
            <p:cNvSpPr/>
            <p:nvPr/>
          </p:nvSpPr>
          <p:spPr>
            <a:xfrm>
              <a:off x="10808208" y="143628"/>
              <a:ext cx="1374648" cy="158121"/>
            </a:xfrm>
            <a:prstGeom prst="rect">
              <a:avLst/>
            </a:prstGeom>
            <a:gradFill flip="none" rotWithShape="1">
              <a:gsLst>
                <a:gs pos="0">
                  <a:srgbClr val="C00000">
                    <a:shade val="30000"/>
                    <a:satMod val="115000"/>
                  </a:srgbClr>
                </a:gs>
                <a:gs pos="50000">
                  <a:srgbClr val="C00000">
                    <a:shade val="67500"/>
                    <a:satMod val="115000"/>
                  </a:srgbClr>
                </a:gs>
                <a:gs pos="100000">
                  <a:srgbClr val="C00000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DA3AA79F-1784-8699-8300-59D82FA175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632" t="3333" r="12632" b="3067"/>
          <a:stretch/>
        </p:blipFill>
        <p:spPr>
          <a:xfrm>
            <a:off x="2123666" y="3092694"/>
            <a:ext cx="2411173" cy="301976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3FFA0F3-401F-A934-ED8C-368E2AFB4D6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978" t="3067" r="13289" b="3067"/>
          <a:stretch/>
        </p:blipFill>
        <p:spPr>
          <a:xfrm>
            <a:off x="5168618" y="3092694"/>
            <a:ext cx="2404872" cy="3061537"/>
          </a:xfrm>
          <a:prstGeom prst="rect">
            <a:avLst/>
          </a:prstGeom>
        </p:spPr>
      </p:pic>
      <p:sp>
        <p:nvSpPr>
          <p:cNvPr id="20" name="Oval 19">
            <a:extLst>
              <a:ext uri="{FF2B5EF4-FFF2-40B4-BE49-F238E27FC236}">
                <a16:creationId xmlns:a16="http://schemas.microsoft.com/office/drawing/2014/main" id="{C1C15132-923B-49A5-60FC-3D4652D6B186}"/>
              </a:ext>
            </a:extLst>
          </p:cNvPr>
          <p:cNvSpPr/>
          <p:nvPr/>
        </p:nvSpPr>
        <p:spPr>
          <a:xfrm>
            <a:off x="5748854" y="4973226"/>
            <a:ext cx="1155192" cy="650247"/>
          </a:xfrm>
          <a:prstGeom prst="ellipse">
            <a:avLst/>
          </a:prstGeom>
          <a:solidFill>
            <a:schemeClr val="accent2">
              <a:lumMod val="20000"/>
              <a:lumOff val="80000"/>
              <a:alpha val="54902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rgbClr val="00B0F0"/>
                </a:solidFill>
              </a:rPr>
              <a:t>abdominal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3DCF2D1-104D-CA30-DB69-F8B8919AD3D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978" t="3067" r="13289" b="3067"/>
          <a:stretch/>
        </p:blipFill>
        <p:spPr>
          <a:xfrm>
            <a:off x="8320250" y="3092694"/>
            <a:ext cx="2404872" cy="3061537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24530E69-C603-C531-A53A-790F56524BAF}"/>
              </a:ext>
            </a:extLst>
          </p:cNvPr>
          <p:cNvSpPr/>
          <p:nvPr/>
        </p:nvSpPr>
        <p:spPr>
          <a:xfrm>
            <a:off x="9239222" y="5270178"/>
            <a:ext cx="188976" cy="219456"/>
          </a:xfrm>
          <a:prstGeom prst="ellipse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Graphic 26" descr="Cheers with solid fill">
            <a:extLst>
              <a:ext uri="{FF2B5EF4-FFF2-40B4-BE49-F238E27FC236}">
                <a16:creationId xmlns:a16="http://schemas.microsoft.com/office/drawing/2014/main" id="{06B4B94A-0F27-5E61-051A-1205C6E5DC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t="40965"/>
          <a:stretch/>
        </p:blipFill>
        <p:spPr>
          <a:xfrm>
            <a:off x="2123666" y="4889264"/>
            <a:ext cx="2142744" cy="1264967"/>
          </a:xfrm>
          <a:prstGeom prst="rect">
            <a:avLst/>
          </a:prstGeom>
        </p:spPr>
      </p:pic>
      <p:sp>
        <p:nvSpPr>
          <p:cNvPr id="28" name="Oval 27">
            <a:extLst>
              <a:ext uri="{FF2B5EF4-FFF2-40B4-BE49-F238E27FC236}">
                <a16:creationId xmlns:a16="http://schemas.microsoft.com/office/drawing/2014/main" id="{87D5483B-CE5D-4254-5991-CBB9815D71E7}"/>
              </a:ext>
            </a:extLst>
          </p:cNvPr>
          <p:cNvSpPr/>
          <p:nvPr/>
        </p:nvSpPr>
        <p:spPr>
          <a:xfrm>
            <a:off x="8945090" y="4973227"/>
            <a:ext cx="1155192" cy="650247"/>
          </a:xfrm>
          <a:prstGeom prst="ellipse">
            <a:avLst/>
          </a:prstGeom>
          <a:solidFill>
            <a:schemeClr val="accent2">
              <a:lumMod val="20000"/>
              <a:lumOff val="80000"/>
              <a:alpha val="54902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8779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3200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868680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8C7D0"/>
                </a:solidFill>
              </a:rPr>
              <a:t>The target is not simply “dark pixels”; it is a clinically meaningful cold pattern.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3429000" cy="4389120"/>
          </a:xfrm>
          <a:prstGeom prst="roundRect">
            <a:avLst>
              <a:gd name="adj" fmla="val 3733"/>
            </a:avLst>
          </a:prstGeom>
          <a:solidFill>
            <a:srgbClr val="15222B"/>
          </a:solidFill>
          <a:ln w="12700">
            <a:solidFill>
              <a:srgbClr val="2A3B47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642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DD7FF"/>
                </a:solidFill>
              </a:rPr>
              <a:t>Input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41832" y="46177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4F8FA"/>
                </a:solidFill>
              </a:rPr>
              <a:t>FIR thermal abdomen image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914900" y="2761488"/>
            <a:ext cx="1920240" cy="1627632"/>
          </a:xfrm>
          <a:prstGeom prst="hexagon">
            <a:avLst/>
          </a:prstGeom>
          <a:solidFill>
            <a:srgbClr val="20323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97780" y="31363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F8FA"/>
                </a:solidFill>
              </a:rPr>
              <a:t>Clinical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4F8FA"/>
                </a:solidFill>
              </a:rPr>
              <a:t>interpretation gap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247388" y="3520440"/>
            <a:ext cx="512064" cy="0"/>
          </a:xfrm>
          <a:prstGeom prst="line">
            <a:avLst/>
          </a:prstGeom>
          <a:noFill/>
          <a:ln w="12700">
            <a:solidFill>
              <a:srgbClr val="FFB84D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972300" y="3520440"/>
            <a:ext cx="502920" cy="0"/>
          </a:xfrm>
          <a:prstGeom prst="line">
            <a:avLst/>
          </a:prstGeom>
          <a:noFill/>
          <a:ln w="12700">
            <a:solidFill>
              <a:srgbClr val="FFB84D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726680" y="1417320"/>
            <a:ext cx="3429000" cy="4389120"/>
          </a:xfrm>
          <a:prstGeom prst="roundRect">
            <a:avLst>
              <a:gd name="adj" fmla="val 3733"/>
            </a:avLst>
          </a:prstGeom>
          <a:solidFill>
            <a:srgbClr val="15222B"/>
          </a:solidFill>
          <a:ln w="12700">
            <a:solidFill>
              <a:srgbClr val="2A3B47">
                <a:alpha val="8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0" y="16642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AE582"/>
                </a:solidFill>
              </a:rPr>
              <a:t>Output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065008" y="4608576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F4F8FA"/>
                </a:solidFill>
              </a:rPr>
              <a:t>Cold-region mask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4F8FA"/>
                </a:solidFill>
              </a:rPr>
              <a:t>matching KM doctor judgement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5800" y="5989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B84D"/>
                </a:solidFill>
              </a:rPr>
              <a:t>Core question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148840" y="5989320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B8C7D0"/>
                </a:solidFill>
              </a:rPr>
              <a:t>Can thermal-image AI reproduce palpation-informed cold-region annotation in a leakage-free, subject-independent setting?</a:t>
            </a:r>
            <a:endParaRPr lang="en-US" sz="1330" dirty="0"/>
          </a:p>
        </p:txBody>
      </p:sp>
      <p:sp>
        <p:nvSpPr>
          <p:cNvPr id="23" name="Text 21"/>
          <p:cNvSpPr/>
          <p:nvPr/>
        </p:nvSpPr>
        <p:spPr>
          <a:xfrm>
            <a:off x="1143000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0818A"/>
                </a:solidFill>
              </a:rPr>
              <a:t>02</a:t>
            </a:r>
            <a:endParaRPr lang="en-US" sz="95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B4F3030-098A-F9FC-73EB-B0011AD83B42}"/>
              </a:ext>
            </a:extLst>
          </p:cNvPr>
          <p:cNvGrpSpPr/>
          <p:nvPr/>
        </p:nvGrpSpPr>
        <p:grpSpPr>
          <a:xfrm>
            <a:off x="0" y="0"/>
            <a:ext cx="12182856" cy="45719"/>
            <a:chOff x="0" y="143628"/>
            <a:chExt cx="12182856" cy="158123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23C0D4F-7345-5379-30F0-58C5F308DF1F}"/>
                </a:ext>
              </a:extLst>
            </p:cNvPr>
            <p:cNvSpPr/>
            <p:nvPr/>
          </p:nvSpPr>
          <p:spPr>
            <a:xfrm>
              <a:off x="0" y="143628"/>
              <a:ext cx="9815079" cy="158123"/>
            </a:xfrm>
            <a:prstGeom prst="rect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CCE70E2-933A-17B3-202D-2EF5F2094920}"/>
                </a:ext>
              </a:extLst>
            </p:cNvPr>
            <p:cNvSpPr/>
            <p:nvPr/>
          </p:nvSpPr>
          <p:spPr>
            <a:xfrm>
              <a:off x="9815079" y="143629"/>
              <a:ext cx="993129" cy="158122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F5597C5-EF3F-66B2-7B15-ED96AA1DE3ED}"/>
                </a:ext>
              </a:extLst>
            </p:cNvPr>
            <p:cNvSpPr/>
            <p:nvPr/>
          </p:nvSpPr>
          <p:spPr>
            <a:xfrm>
              <a:off x="10808208" y="143628"/>
              <a:ext cx="1374648" cy="158121"/>
            </a:xfrm>
            <a:prstGeom prst="rect">
              <a:avLst/>
            </a:prstGeom>
            <a:gradFill flip="none" rotWithShape="1">
              <a:gsLst>
                <a:gs pos="0">
                  <a:srgbClr val="C00000">
                    <a:shade val="30000"/>
                    <a:satMod val="115000"/>
                  </a:srgbClr>
                </a:gs>
                <a:gs pos="50000">
                  <a:srgbClr val="C00000">
                    <a:shade val="67500"/>
                    <a:satMod val="115000"/>
                  </a:srgbClr>
                </a:gs>
                <a:gs pos="100000">
                  <a:srgbClr val="C00000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46D9B9A6-2FB4-7EEC-C685-FF88C757F9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54" t="13998" r="67791" b="6248"/>
          <a:stretch/>
        </p:blipFill>
        <p:spPr>
          <a:xfrm>
            <a:off x="877824" y="2231134"/>
            <a:ext cx="2779776" cy="220370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9C2FA64-6BC4-E373-BEAD-9750FF2541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7470" t="13998" r="1371" b="6248"/>
          <a:stretch/>
        </p:blipFill>
        <p:spPr>
          <a:xfrm>
            <a:off x="8065008" y="2194561"/>
            <a:ext cx="2798064" cy="22037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3200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Motivation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868680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8C7D0"/>
                </a:solidFill>
              </a:rPr>
              <a:t>Why this problem matters clinically and technically.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316736" y="1691640"/>
            <a:ext cx="1207008" cy="1207008"/>
          </a:xfrm>
          <a:prstGeom prst="ellipse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0" y="192938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1820"/>
                </a:solidFill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58368" y="32461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4F8FA"/>
                </a:solidFill>
              </a:rPr>
              <a:t>Standardize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49808" y="3730752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B8C7D0"/>
                </a:solidFill>
              </a:rPr>
              <a:t>Reduce practitioner-to-practitioner variability in cold-region judgement.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42816" y="1691640"/>
            <a:ext cx="1207008" cy="1207008"/>
          </a:xfrm>
          <a:prstGeom prst="ellipse">
            <a:avLst/>
          </a:prstGeom>
          <a:solidFill>
            <a:srgbClr val="4DD7FF"/>
          </a:solidFill>
          <a:ln w="12700">
            <a:solidFill>
              <a:srgbClr val="4DD7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92938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1820"/>
                </a:solidFill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584448" y="32461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4F8FA"/>
                </a:solidFill>
              </a:rPr>
              <a:t>Quantify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675888" y="3730752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B8C7D0"/>
                </a:solidFill>
              </a:rPr>
              <a:t>Turn a subjective palpation cue into a measurable thermal mask and area.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168896" y="1691640"/>
            <a:ext cx="1207008" cy="1207008"/>
          </a:xfrm>
          <a:prstGeom prst="ellipse">
            <a:avLst/>
          </a:prstGeom>
          <a:solidFill>
            <a:srgbClr val="7AE582"/>
          </a:solidFill>
          <a:ln w="12700">
            <a:solidFill>
              <a:srgbClr val="7AE5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0" y="192938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1820"/>
                </a:solidFill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510528" y="32461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4F8FA"/>
                </a:solidFill>
              </a:rPr>
              <a:t>Scale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601968" y="3730752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B8C7D0"/>
                </a:solidFill>
              </a:rPr>
              <a:t>Enable repeatable screening using portable FIR cameras and AI inference.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094976" y="1691640"/>
            <a:ext cx="1207008" cy="1207008"/>
          </a:xfrm>
          <a:prstGeom prst="ellipse">
            <a:avLst/>
          </a:prstGeom>
          <a:solidFill>
            <a:srgbClr val="BBA7FF"/>
          </a:solidFill>
          <a:ln w="12700">
            <a:solidFill>
              <a:srgbClr val="BBA7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24160" y="192938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1820"/>
                </a:solidFill>
              </a:rPr>
              <a:t>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436608" y="32461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4F8FA"/>
                </a:solidFill>
              </a:rPr>
              <a:t>Validate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9528048" y="3730752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B8C7D0"/>
                </a:solidFill>
              </a:rPr>
              <a:t>Create evidence-based links between KM diagnosis and image biomarkers.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7240" y="55778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84D"/>
                </a:solidFill>
              </a:rPr>
              <a:t>Project impact target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788920" y="55778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F4F8FA"/>
                </a:solidFill>
              </a:rPr>
              <a:t>A non-contact, reproducible, AI-assisted cold-region assessment that supports KM doctors rather than replacing clinical decision-making.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143000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0818A"/>
                </a:solidFill>
              </a:rPr>
              <a:t>03</a:t>
            </a:r>
            <a:endParaRPr lang="en-US" sz="95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8CF6885-01D4-E5D7-75E1-5AE9A0F26E6A}"/>
              </a:ext>
            </a:extLst>
          </p:cNvPr>
          <p:cNvGrpSpPr/>
          <p:nvPr/>
        </p:nvGrpSpPr>
        <p:grpSpPr>
          <a:xfrm>
            <a:off x="0" y="0"/>
            <a:ext cx="12182856" cy="45719"/>
            <a:chOff x="0" y="143628"/>
            <a:chExt cx="12182856" cy="158123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3802A79-7F91-9F5A-D972-67BAF22868DA}"/>
                </a:ext>
              </a:extLst>
            </p:cNvPr>
            <p:cNvSpPr/>
            <p:nvPr/>
          </p:nvSpPr>
          <p:spPr>
            <a:xfrm>
              <a:off x="0" y="143628"/>
              <a:ext cx="9815079" cy="158123"/>
            </a:xfrm>
            <a:prstGeom prst="rect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309400E-CCB5-016C-9434-A142D37DA75A}"/>
                </a:ext>
              </a:extLst>
            </p:cNvPr>
            <p:cNvSpPr/>
            <p:nvPr/>
          </p:nvSpPr>
          <p:spPr>
            <a:xfrm>
              <a:off x="9815079" y="143629"/>
              <a:ext cx="993129" cy="158122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EF84B00-D31D-1775-3ED8-1A2A8954CD25}"/>
                </a:ext>
              </a:extLst>
            </p:cNvPr>
            <p:cNvSpPr/>
            <p:nvPr/>
          </p:nvSpPr>
          <p:spPr>
            <a:xfrm>
              <a:off x="10808208" y="143628"/>
              <a:ext cx="1374648" cy="158121"/>
            </a:xfrm>
            <a:prstGeom prst="rect">
              <a:avLst/>
            </a:prstGeom>
            <a:gradFill flip="none" rotWithShape="1">
              <a:gsLst>
                <a:gs pos="0">
                  <a:srgbClr val="C00000">
                    <a:shade val="30000"/>
                    <a:satMod val="115000"/>
                  </a:srgbClr>
                </a:gs>
                <a:gs pos="50000">
                  <a:srgbClr val="C00000">
                    <a:shade val="67500"/>
                    <a:satMod val="115000"/>
                  </a:srgbClr>
                </a:gs>
                <a:gs pos="100000">
                  <a:srgbClr val="C00000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3200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Clinical meaning of “abdominal coldness”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868680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8C7D0"/>
                </a:solidFill>
              </a:rPr>
              <a:t>In this project, coldness is a clinical judgement, not just a thermometer threshold.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3108960" cy="4389120"/>
          </a:xfrm>
          <a:prstGeom prst="roundRect">
            <a:avLst>
              <a:gd name="adj" fmla="val 4118"/>
            </a:avLst>
          </a:prstGeom>
          <a:solidFill>
            <a:srgbClr val="15222B"/>
          </a:solidFill>
          <a:ln w="12700">
            <a:solidFill>
              <a:srgbClr val="2A3B47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7190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DD7FF"/>
                </a:solidFill>
              </a:rPr>
              <a:t>Thermal image signal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60120" y="2240280"/>
            <a:ext cx="2514600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620" dirty="0">
                <a:solidFill>
                  <a:srgbClr val="F4F8FA"/>
                </a:solidFill>
              </a:rPr>
              <a:t>surface temperature distribution</a:t>
            </a:r>
            <a:endParaRPr lang="en-US" sz="1620" dirty="0"/>
          </a:p>
          <a:p>
            <a:r>
              <a:rPr lang="en-US" sz="1620" dirty="0">
                <a:solidFill>
                  <a:srgbClr val="F4F8FA"/>
                </a:solidFill>
              </a:rPr>
              <a:t>relative local temperature difference</a:t>
            </a:r>
            <a:endParaRPr lang="en-US" sz="1620" dirty="0"/>
          </a:p>
          <a:p>
            <a:r>
              <a:rPr lang="en-US" sz="1620" dirty="0">
                <a:solidFill>
                  <a:srgbClr val="F4F8FA"/>
                </a:solidFill>
              </a:rPr>
              <a:t>spatial pattern within abdomen</a:t>
            </a:r>
            <a:endParaRPr lang="en-US" sz="1620" dirty="0"/>
          </a:p>
        </p:txBody>
      </p:sp>
      <p:sp>
        <p:nvSpPr>
          <p:cNvPr id="9" name="Text 7"/>
          <p:cNvSpPr/>
          <p:nvPr/>
        </p:nvSpPr>
        <p:spPr>
          <a:xfrm>
            <a:off x="1051560" y="504748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B8C7D0"/>
                </a:solidFill>
              </a:rPr>
              <a:t>What camera sees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26280" y="1417320"/>
            <a:ext cx="3108960" cy="4389120"/>
          </a:xfrm>
          <a:prstGeom prst="roundRect">
            <a:avLst>
              <a:gd name="adj" fmla="val 4118"/>
            </a:avLst>
          </a:prstGeom>
          <a:solidFill>
            <a:srgbClr val="15222B"/>
          </a:solidFill>
          <a:ln w="12700">
            <a:solidFill>
              <a:srgbClr val="2A3B47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17190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B84D"/>
                </a:solidFill>
              </a:rPr>
              <a:t>KM palpation signal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800600" y="2240280"/>
            <a:ext cx="2514600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620" dirty="0">
                <a:solidFill>
                  <a:srgbClr val="F4F8FA"/>
                </a:solidFill>
              </a:rPr>
              <a:t>presence or absence of cold sensation</a:t>
            </a:r>
            <a:endParaRPr lang="en-US" sz="1620" dirty="0"/>
          </a:p>
          <a:p>
            <a:r>
              <a:rPr lang="en-US" sz="1620" dirty="0">
                <a:solidFill>
                  <a:srgbClr val="F4F8FA"/>
                </a:solidFill>
              </a:rPr>
              <a:t>pressure response during palpation</a:t>
            </a:r>
            <a:endParaRPr lang="en-US" sz="1620" dirty="0"/>
          </a:p>
          <a:p>
            <a:r>
              <a:rPr lang="en-US" sz="1620" dirty="0">
                <a:solidFill>
                  <a:srgbClr val="F4F8FA"/>
                </a:solidFill>
              </a:rPr>
              <a:t>flatness, distension, and body context</a:t>
            </a:r>
            <a:endParaRPr lang="en-US" sz="1620" dirty="0"/>
          </a:p>
        </p:txBody>
      </p:sp>
      <p:sp>
        <p:nvSpPr>
          <p:cNvPr id="13" name="Text 11"/>
          <p:cNvSpPr/>
          <p:nvPr/>
        </p:nvSpPr>
        <p:spPr>
          <a:xfrm>
            <a:off x="4892040" y="504748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B8C7D0"/>
                </a:solidFill>
              </a:rPr>
              <a:t>What doctors infer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366760" y="1417320"/>
            <a:ext cx="3108960" cy="4389120"/>
          </a:xfrm>
          <a:prstGeom prst="roundRect">
            <a:avLst>
              <a:gd name="adj" fmla="val 4118"/>
            </a:avLst>
          </a:prstGeom>
          <a:solidFill>
            <a:srgbClr val="15222B"/>
          </a:solidFill>
          <a:ln w="12700">
            <a:solidFill>
              <a:srgbClr val="2A3B47">
                <a:alpha val="8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13648" y="17190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7AE582"/>
                </a:solidFill>
              </a:rPr>
              <a:t>AI target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641080" y="2240280"/>
            <a:ext cx="2514600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620" dirty="0">
                <a:solidFill>
                  <a:srgbClr val="F4F8FA"/>
                </a:solidFill>
              </a:rPr>
              <a:t>cold-region mask consistent with annotation</a:t>
            </a:r>
            <a:endParaRPr lang="en-US" sz="1620" dirty="0"/>
          </a:p>
          <a:p>
            <a:r>
              <a:rPr lang="en-US" sz="1620" dirty="0">
                <a:solidFill>
                  <a:srgbClr val="F4F8FA"/>
                </a:solidFill>
              </a:rPr>
              <a:t>uncertainty where doctors disagree</a:t>
            </a:r>
            <a:endParaRPr lang="en-US" sz="1620" dirty="0"/>
          </a:p>
          <a:p>
            <a:r>
              <a:rPr lang="en-US" sz="1620" dirty="0">
                <a:solidFill>
                  <a:srgbClr val="F4F8FA"/>
                </a:solidFill>
              </a:rPr>
              <a:t>quantitative area and shape descriptors</a:t>
            </a:r>
            <a:endParaRPr lang="en-US" sz="1620" dirty="0"/>
          </a:p>
        </p:txBody>
      </p:sp>
      <p:sp>
        <p:nvSpPr>
          <p:cNvPr id="17" name="Text 15"/>
          <p:cNvSpPr/>
          <p:nvPr/>
        </p:nvSpPr>
        <p:spPr>
          <a:xfrm>
            <a:off x="8641080" y="50474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B8C7D0"/>
                </a:solidFill>
              </a:rPr>
              <a:t>What model should learn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913632" y="3355848"/>
            <a:ext cx="475488" cy="0"/>
          </a:xfrm>
          <a:prstGeom prst="line">
            <a:avLst/>
          </a:prstGeom>
          <a:noFill/>
          <a:ln w="12700">
            <a:solidFill>
              <a:srgbClr val="FFB84D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754112" y="3355848"/>
            <a:ext cx="475488" cy="0"/>
          </a:xfrm>
          <a:prstGeom prst="line">
            <a:avLst/>
          </a:prstGeom>
          <a:noFill/>
          <a:ln w="12700">
            <a:solidFill>
              <a:srgbClr val="FFB84D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1143000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0818A"/>
                </a:solidFill>
              </a:rPr>
              <a:t>04</a:t>
            </a:r>
            <a:endParaRPr lang="en-US" sz="95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57B71F5-E697-2B7B-8B47-C7C42568B31D}"/>
              </a:ext>
            </a:extLst>
          </p:cNvPr>
          <p:cNvGrpSpPr/>
          <p:nvPr/>
        </p:nvGrpSpPr>
        <p:grpSpPr>
          <a:xfrm>
            <a:off x="0" y="0"/>
            <a:ext cx="12182856" cy="45719"/>
            <a:chOff x="0" y="143628"/>
            <a:chExt cx="12182856" cy="158123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5339423-41D2-6177-9DFF-303C03836BA1}"/>
                </a:ext>
              </a:extLst>
            </p:cNvPr>
            <p:cNvSpPr/>
            <p:nvPr/>
          </p:nvSpPr>
          <p:spPr>
            <a:xfrm>
              <a:off x="0" y="143628"/>
              <a:ext cx="9815079" cy="158123"/>
            </a:xfrm>
            <a:prstGeom prst="rect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8E7661A-243C-6F67-7912-5D2B02ACB224}"/>
                </a:ext>
              </a:extLst>
            </p:cNvPr>
            <p:cNvSpPr/>
            <p:nvPr/>
          </p:nvSpPr>
          <p:spPr>
            <a:xfrm>
              <a:off x="9815079" y="143629"/>
              <a:ext cx="993129" cy="158122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071FEAD-5FCA-49D9-CD4A-838C6F0657EA}"/>
                </a:ext>
              </a:extLst>
            </p:cNvPr>
            <p:cNvSpPr/>
            <p:nvPr/>
          </p:nvSpPr>
          <p:spPr>
            <a:xfrm>
              <a:off x="10808208" y="143628"/>
              <a:ext cx="1374648" cy="158121"/>
            </a:xfrm>
            <a:prstGeom prst="rect">
              <a:avLst/>
            </a:prstGeom>
            <a:gradFill flip="none" rotWithShape="1">
              <a:gsLst>
                <a:gs pos="0">
                  <a:srgbClr val="C00000">
                    <a:shade val="30000"/>
                    <a:satMod val="115000"/>
                  </a:srgbClr>
                </a:gs>
                <a:gs pos="50000">
                  <a:srgbClr val="C00000">
                    <a:shade val="67500"/>
                    <a:satMod val="115000"/>
                  </a:srgbClr>
                </a:gs>
                <a:gs pos="100000">
                  <a:srgbClr val="C00000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3200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Original project workflow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868680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8C7D0"/>
                </a:solidFill>
              </a:rPr>
              <a:t>Clinical annotation bridges thermal imaging and deep learning.</a:t>
            </a:r>
            <a:endParaRPr lang="en-US" sz="1350" dirty="0"/>
          </a:p>
        </p:txBody>
      </p:sp>
      <p:pic>
        <p:nvPicPr>
          <p:cNvPr id="6" name="Image 0" descr="/mnt/data/preview.web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0446" y="1234440"/>
            <a:ext cx="8386348" cy="46817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5916168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B8C7D0"/>
                </a:solidFill>
              </a:rPr>
              <a:t>Known from project notes: FIR thermal imaging, visual reference capture, KM palpation, manual cold-region drawing, and CNN-based segmentation target.</a:t>
            </a:r>
            <a:endParaRPr lang="en-US" sz="1170" dirty="0"/>
          </a:p>
        </p:txBody>
      </p:sp>
      <p:sp>
        <p:nvSpPr>
          <p:cNvPr id="9" name="Text 6"/>
          <p:cNvSpPr/>
          <p:nvPr/>
        </p:nvSpPr>
        <p:spPr>
          <a:xfrm>
            <a:off x="1143000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0818A"/>
                </a:solidFill>
              </a:rPr>
              <a:t>05</a:t>
            </a:r>
            <a:endParaRPr lang="en-US" sz="95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D01031E-137A-2D2B-B6BF-9A874DFE4778}"/>
              </a:ext>
            </a:extLst>
          </p:cNvPr>
          <p:cNvGrpSpPr/>
          <p:nvPr/>
        </p:nvGrpSpPr>
        <p:grpSpPr>
          <a:xfrm>
            <a:off x="0" y="0"/>
            <a:ext cx="12182856" cy="45719"/>
            <a:chOff x="0" y="143628"/>
            <a:chExt cx="12182856" cy="15812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9DA02F3-99F2-DD35-511A-B80C2207EB7D}"/>
                </a:ext>
              </a:extLst>
            </p:cNvPr>
            <p:cNvSpPr/>
            <p:nvPr/>
          </p:nvSpPr>
          <p:spPr>
            <a:xfrm>
              <a:off x="0" y="143628"/>
              <a:ext cx="9815079" cy="158123"/>
            </a:xfrm>
            <a:prstGeom prst="rect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E20F5D0-FE52-99A6-CD0D-55D41DA7E138}"/>
                </a:ext>
              </a:extLst>
            </p:cNvPr>
            <p:cNvSpPr/>
            <p:nvPr/>
          </p:nvSpPr>
          <p:spPr>
            <a:xfrm>
              <a:off x="9815079" y="143629"/>
              <a:ext cx="993129" cy="158122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68182CB-88B7-E961-F819-A4B61ABA5610}"/>
                </a:ext>
              </a:extLst>
            </p:cNvPr>
            <p:cNvSpPr/>
            <p:nvPr/>
          </p:nvSpPr>
          <p:spPr>
            <a:xfrm>
              <a:off x="10808208" y="143628"/>
              <a:ext cx="1374648" cy="158121"/>
            </a:xfrm>
            <a:prstGeom prst="rect">
              <a:avLst/>
            </a:prstGeom>
            <a:gradFill flip="none" rotWithShape="1">
              <a:gsLst>
                <a:gs pos="0">
                  <a:srgbClr val="C00000">
                    <a:shade val="30000"/>
                    <a:satMod val="115000"/>
                  </a:srgbClr>
                </a:gs>
                <a:gs pos="50000">
                  <a:srgbClr val="C00000">
                    <a:shade val="67500"/>
                    <a:satMod val="115000"/>
                  </a:srgbClr>
                </a:gs>
                <a:gs pos="100000">
                  <a:srgbClr val="C00000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1750040" y="6519672"/>
            <a:ext cx="2286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580">
                <a:solidFill>
                  <a:srgbClr val="738791"/>
                </a:solidFill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274320"/>
            <a:ext cx="1115568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300" b="1" dirty="0">
                <a:solidFill>
                  <a:srgbClr val="EEF4F8"/>
                </a:solidFill>
              </a:rPr>
              <a:t>Literature review I — Thermal imaging and cold/perfusion patterns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" y="749808"/>
            <a:ext cx="6676508" cy="2077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en-US" sz="1350" dirty="0">
                <a:solidFill>
                  <a:srgbClr val="AEBEC6"/>
                </a:solidFill>
              </a:rPr>
              <a:t>Paper titles and tiny bibliography anchors for the medical meaning of cold-region analysis.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63624"/>
            <a:ext cx="5440680" cy="1417320"/>
          </a:xfrm>
          <a:prstGeom prst="roundRect">
            <a:avLst/>
          </a:prstGeom>
          <a:solidFill>
            <a:srgbClr val="12232B"/>
          </a:solidFill>
          <a:ln w="8890">
            <a:solidFill>
              <a:srgbClr val="274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" y="1682496"/>
            <a:ext cx="5111496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20" b="1" dirty="0">
                <a:solidFill>
                  <a:srgbClr val="59DCF5"/>
                </a:solidFill>
              </a:rPr>
              <a:t>Cold sensation CAD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865376"/>
            <a:ext cx="5111496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10" b="1" dirty="0">
                <a:solidFill>
                  <a:srgbClr val="EEF4F8"/>
                </a:solidFill>
              </a:rPr>
              <a:t>“Convolutional neural network-based computer-aided diagnosis in </a:t>
            </a:r>
            <a:r>
              <a:rPr sz="910" b="1" dirty="0" err="1">
                <a:solidFill>
                  <a:srgbClr val="EEF4F8"/>
                </a:solidFill>
              </a:rPr>
              <a:t>Hiesho</a:t>
            </a:r>
            <a:r>
              <a:rPr sz="910" b="1" dirty="0">
                <a:solidFill>
                  <a:srgbClr val="EEF4F8"/>
                </a:solidFill>
              </a:rPr>
              <a:t> (cold sensation)”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276856"/>
            <a:ext cx="4247958" cy="1061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690" dirty="0">
                <a:solidFill>
                  <a:srgbClr val="AEBEC6"/>
                </a:solidFill>
              </a:rPr>
              <a:t> Wang T. et al., Computers in Biology and Medicine, 145:105411, 2022. DOI:10.1016/j.compbiomed.2022.105411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624328"/>
            <a:ext cx="4372992" cy="2246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30" dirty="0">
                <a:solidFill>
                  <a:srgbClr val="DBE6EB"/>
                </a:solidFill>
              </a:rPr>
              <a:t>Use here: thermographic patterns can support cold-sensation diagnosis, but the paper is classification/CAD </a:t>
            </a:r>
            <a:endParaRPr lang="en-US" sz="730" dirty="0">
              <a:solidFill>
                <a:srgbClr val="DBE6EB"/>
              </a:solidFill>
            </a:endParaRPr>
          </a:p>
          <a:p>
            <a:r>
              <a:rPr sz="730" dirty="0">
                <a:solidFill>
                  <a:srgbClr val="DBE6EB"/>
                </a:solidFill>
              </a:rPr>
              <a:t>rather than pixel segmentation.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563624"/>
            <a:ext cx="5440680" cy="1417320"/>
          </a:xfrm>
          <a:prstGeom prst="roundRect">
            <a:avLst/>
          </a:prstGeom>
          <a:solidFill>
            <a:srgbClr val="12232B"/>
          </a:solidFill>
          <a:ln w="8890">
            <a:solidFill>
              <a:srgbClr val="274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73951" y="1682496"/>
            <a:ext cx="5111496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20" b="1">
                <a:solidFill>
                  <a:srgbClr val="74EB8F"/>
                </a:solidFill>
              </a:rPr>
              <a:t>Abdominal thermography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1" y="1865376"/>
            <a:ext cx="3577903" cy="2800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10" b="1" dirty="0">
                <a:solidFill>
                  <a:srgbClr val="EEF4F8"/>
                </a:solidFill>
              </a:rPr>
              <a:t>“Abdominal Cutaneous Thermography and Perfusion Mapping after </a:t>
            </a:r>
            <a:endParaRPr lang="en-US" sz="910" b="1" dirty="0">
              <a:solidFill>
                <a:srgbClr val="EEF4F8"/>
              </a:solidFill>
            </a:endParaRPr>
          </a:p>
          <a:p>
            <a:r>
              <a:rPr sz="910" b="1" dirty="0">
                <a:solidFill>
                  <a:srgbClr val="EEF4F8"/>
                </a:solidFill>
              </a:rPr>
              <a:t>Caesarean Section: A Scoping Review”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1" y="2276856"/>
            <a:ext cx="2981585" cy="1061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690" dirty="0">
                <a:solidFill>
                  <a:srgbClr val="AEBEC6"/>
                </a:solidFill>
              </a:rPr>
              <a:t>Childs C. &amp; </a:t>
            </a:r>
            <a:r>
              <a:rPr sz="690" dirty="0" err="1">
                <a:solidFill>
                  <a:srgbClr val="AEBEC6"/>
                </a:solidFill>
              </a:rPr>
              <a:t>Soltani</a:t>
            </a:r>
            <a:r>
              <a:rPr sz="690" dirty="0">
                <a:solidFill>
                  <a:srgbClr val="AEBEC6"/>
                </a:solidFill>
              </a:rPr>
              <a:t> H., IJERPH, 17(22):8693, 2020. DOI:10.3390/ijerph17228693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1" y="2624328"/>
            <a:ext cx="4259179" cy="2246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30" dirty="0">
                <a:solidFill>
                  <a:srgbClr val="DBE6EB"/>
                </a:solidFill>
              </a:rPr>
              <a:t>Use here: abdominal thermal maps are physiologically connected to perfusion/wound-risk interpretation, </a:t>
            </a:r>
            <a:endParaRPr lang="en-US" sz="730" dirty="0">
              <a:solidFill>
                <a:srgbClr val="DBE6EB"/>
              </a:solidFill>
            </a:endParaRPr>
          </a:p>
          <a:p>
            <a:r>
              <a:rPr sz="730" dirty="0">
                <a:solidFill>
                  <a:srgbClr val="DBE6EB"/>
                </a:solidFill>
              </a:rPr>
              <a:t>not simple brightness thresholding.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7681" y="3406140"/>
            <a:ext cx="5440680" cy="1417320"/>
          </a:xfrm>
          <a:prstGeom prst="roundRect">
            <a:avLst/>
          </a:prstGeom>
          <a:solidFill>
            <a:srgbClr val="12232B"/>
          </a:solidFill>
          <a:ln w="8890">
            <a:solidFill>
              <a:srgbClr val="274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2273" y="3525012"/>
            <a:ext cx="5111496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20" b="1">
                <a:solidFill>
                  <a:srgbClr val="B296FF"/>
                </a:solidFill>
              </a:rPr>
              <a:t>Lower-abdomen perfusion dynamics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73" y="3707892"/>
            <a:ext cx="4387420" cy="2800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10" b="1" dirty="0">
                <a:solidFill>
                  <a:srgbClr val="EEF4F8"/>
                </a:solidFill>
              </a:rPr>
              <a:t>“Cutaneous Perfusion Dynamics of the Lower Abdomen in Healthy Normal Weight, </a:t>
            </a:r>
            <a:endParaRPr lang="en-US" sz="910" b="1" dirty="0">
              <a:solidFill>
                <a:srgbClr val="EEF4F8"/>
              </a:solidFill>
            </a:endParaRPr>
          </a:p>
          <a:p>
            <a:r>
              <a:rPr sz="910" b="1" dirty="0">
                <a:solidFill>
                  <a:srgbClr val="EEF4F8"/>
                </a:solidFill>
              </a:rPr>
              <a:t>Overweight and Obese Women”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73" y="4119371"/>
            <a:ext cx="1566134" cy="1061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690" dirty="0">
                <a:solidFill>
                  <a:srgbClr val="AEBEC6"/>
                </a:solidFill>
              </a:rPr>
              <a:t>Childs C. et al., IJERPH, 20(6):5100, 2023.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73" y="4466843"/>
            <a:ext cx="5111496" cy="2834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30">
                <a:solidFill>
                  <a:srgbClr val="DBE6EB"/>
                </a:solidFill>
              </a:rPr>
              <a:t>Use here: lower-abdomen thermal response varies by subject physiology, supporting our need for subject-wise validation.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410711"/>
            <a:ext cx="5440680" cy="1417320"/>
          </a:xfrm>
          <a:prstGeom prst="roundRect">
            <a:avLst/>
          </a:prstGeom>
          <a:solidFill>
            <a:srgbClr val="12232B"/>
          </a:solidFill>
          <a:ln w="8890">
            <a:solidFill>
              <a:srgbClr val="274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28231" y="3529583"/>
            <a:ext cx="5111496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20" b="1">
                <a:solidFill>
                  <a:srgbClr val="FFB74D"/>
                </a:solidFill>
              </a:rPr>
              <a:t>KM Cold–Heat biomarker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1" y="3712463"/>
            <a:ext cx="4639090" cy="2800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10" b="1" dirty="0">
                <a:solidFill>
                  <a:srgbClr val="EEF4F8"/>
                </a:solidFill>
              </a:rPr>
              <a:t>“Clinical Utility of Abdominal-Peripheral Temperature Difference Measured via Infrared </a:t>
            </a:r>
            <a:endParaRPr lang="en-US" sz="910" b="1" dirty="0">
              <a:solidFill>
                <a:srgbClr val="EEF4F8"/>
              </a:solidFill>
            </a:endParaRPr>
          </a:p>
          <a:p>
            <a:r>
              <a:rPr sz="910" b="1" dirty="0">
                <a:solidFill>
                  <a:srgbClr val="EEF4F8"/>
                </a:solidFill>
              </a:rPr>
              <a:t>Thermography as an Objective Biomarker for Cold-Heat Pattern Identification”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8231" y="4123942"/>
            <a:ext cx="3577903" cy="1061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690" dirty="0">
                <a:solidFill>
                  <a:srgbClr val="AEBEC6"/>
                </a:solidFill>
              </a:rPr>
              <a:t>Kim S. et al., Korean Journal of Acupuncture, 42(3):163–172, 2025. DOI:10.14406/acu.2025.010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8231" y="4471414"/>
            <a:ext cx="5111496" cy="2834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30">
                <a:solidFill>
                  <a:srgbClr val="DBE6EB"/>
                </a:solidFill>
              </a:rPr>
              <a:t>Use here: supports abdominal/peripheral IRT temperature differences as objective KM-pattern biomarkers.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5989320"/>
            <a:ext cx="11292840" cy="438912"/>
          </a:xfrm>
          <a:prstGeom prst="roundRect">
            <a:avLst/>
          </a:prstGeom>
          <a:solidFill>
            <a:srgbClr val="121F25"/>
          </a:solidFill>
          <a:ln w="6350">
            <a:solidFill>
              <a:srgbClr val="375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4360" y="6080759"/>
            <a:ext cx="109270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30" b="1">
                <a:solidFill>
                  <a:srgbClr val="FFB74D"/>
                </a:solidFill>
              </a:rPr>
              <a:t>Takeaway: </a:t>
            </a:r>
            <a:r>
              <a:rPr sz="830">
                <a:solidFill>
                  <a:srgbClr val="EEF4F8"/>
                </a:solidFill>
              </a:rPr>
              <a:t>Use thermal literature to justify the clinical target: cold region = interpreted thermal/perfusion pattern, not merely low pixel intensity.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38DE7DD-25D1-0814-6F31-CD0340D02EC8}"/>
              </a:ext>
            </a:extLst>
          </p:cNvPr>
          <p:cNvGrpSpPr/>
          <p:nvPr/>
        </p:nvGrpSpPr>
        <p:grpSpPr>
          <a:xfrm>
            <a:off x="0" y="0"/>
            <a:ext cx="12182856" cy="45719"/>
            <a:chOff x="0" y="143628"/>
            <a:chExt cx="12182856" cy="158123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8A2CB835-E410-14BC-2C88-AC2A3AE55AA6}"/>
                </a:ext>
              </a:extLst>
            </p:cNvPr>
            <p:cNvSpPr/>
            <p:nvPr/>
          </p:nvSpPr>
          <p:spPr>
            <a:xfrm>
              <a:off x="0" y="143628"/>
              <a:ext cx="9815079" cy="158123"/>
            </a:xfrm>
            <a:prstGeom prst="rect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310010E-C541-875E-1C22-997451EAC22D}"/>
                </a:ext>
              </a:extLst>
            </p:cNvPr>
            <p:cNvSpPr/>
            <p:nvPr/>
          </p:nvSpPr>
          <p:spPr>
            <a:xfrm>
              <a:off x="9815079" y="143629"/>
              <a:ext cx="993129" cy="158122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9E97FA0-C6AC-E4D5-0C10-04734C828103}"/>
                </a:ext>
              </a:extLst>
            </p:cNvPr>
            <p:cNvSpPr/>
            <p:nvPr/>
          </p:nvSpPr>
          <p:spPr>
            <a:xfrm>
              <a:off x="10808208" y="143628"/>
              <a:ext cx="1374648" cy="158121"/>
            </a:xfrm>
            <a:prstGeom prst="rect">
              <a:avLst/>
            </a:prstGeom>
            <a:gradFill flip="none" rotWithShape="1">
              <a:gsLst>
                <a:gs pos="0">
                  <a:srgbClr val="C00000">
                    <a:shade val="30000"/>
                    <a:satMod val="115000"/>
                  </a:srgbClr>
                </a:gs>
                <a:gs pos="50000">
                  <a:srgbClr val="C00000">
                    <a:shade val="67500"/>
                    <a:satMod val="115000"/>
                  </a:srgbClr>
                </a:gs>
                <a:gs pos="100000">
                  <a:srgbClr val="C00000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1750040" y="6519672"/>
            <a:ext cx="2286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580">
                <a:solidFill>
                  <a:srgbClr val="738791"/>
                </a:solidFill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274320"/>
            <a:ext cx="1115568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300" b="1">
                <a:solidFill>
                  <a:srgbClr val="EEF4F8"/>
                </a:solidFill>
              </a:rPr>
              <a:t>Literature review II — Low-data medical segmentation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" y="749808"/>
            <a:ext cx="6362767" cy="2077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50" dirty="0">
                <a:solidFill>
                  <a:srgbClr val="AEBEC6"/>
                </a:solidFill>
              </a:rPr>
              <a:t>Paper titles and tiny bibliography anchors for building a careful baseline before </a:t>
            </a:r>
            <a:r>
              <a:rPr sz="1350" dirty="0" err="1">
                <a:solidFill>
                  <a:srgbClr val="AEBEC6"/>
                </a:solidFill>
              </a:rPr>
              <a:t>GenAI</a:t>
            </a:r>
            <a:r>
              <a:rPr sz="1350" dirty="0">
                <a:solidFill>
                  <a:srgbClr val="AEBEC6"/>
                </a:solidFill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6887" y="1941818"/>
            <a:ext cx="5440680" cy="1417320"/>
          </a:xfrm>
          <a:prstGeom prst="roundRect">
            <a:avLst/>
          </a:prstGeom>
          <a:solidFill>
            <a:srgbClr val="12232B"/>
          </a:solidFill>
          <a:ln w="8890">
            <a:solidFill>
              <a:srgbClr val="274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79" y="2060690"/>
            <a:ext cx="5111496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20" b="1">
                <a:solidFill>
                  <a:srgbClr val="59DCF5"/>
                </a:solidFill>
              </a:rPr>
              <a:t>Classic low-data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243570"/>
            <a:ext cx="5111496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10" b="1">
                <a:solidFill>
                  <a:srgbClr val="EEF4F8"/>
                </a:solidFill>
              </a:rPr>
              <a:t>“U-Net: Convolutional Networks for Biomedical Image Segmentation”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655050"/>
            <a:ext cx="2729914" cy="1061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690" dirty="0" err="1">
                <a:solidFill>
                  <a:srgbClr val="AEBEC6"/>
                </a:solidFill>
              </a:rPr>
              <a:t>Ronneberger</a:t>
            </a:r>
            <a:r>
              <a:rPr sz="690" dirty="0">
                <a:solidFill>
                  <a:srgbClr val="AEBEC6"/>
                </a:solidFill>
              </a:rPr>
              <a:t> O., Fischer P., </a:t>
            </a:r>
            <a:r>
              <a:rPr sz="690" dirty="0" err="1">
                <a:solidFill>
                  <a:srgbClr val="AEBEC6"/>
                </a:solidFill>
              </a:rPr>
              <a:t>Brox</a:t>
            </a:r>
            <a:r>
              <a:rPr sz="690" dirty="0">
                <a:solidFill>
                  <a:srgbClr val="AEBEC6"/>
                </a:solidFill>
              </a:rPr>
              <a:t> T., MICCAI / LNCS 9351:234–241, 2015.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3002522"/>
            <a:ext cx="4853893" cy="2246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30" dirty="0">
                <a:solidFill>
                  <a:srgbClr val="DBE6EB"/>
                </a:solidFill>
              </a:rPr>
              <a:t>Use here: U-Net was built for precise biomedical segmentation from few annotated images using augmentation and skip </a:t>
            </a:r>
            <a:endParaRPr lang="en-US" sz="730" dirty="0">
              <a:solidFill>
                <a:srgbClr val="DBE6EB"/>
              </a:solidFill>
            </a:endParaRPr>
          </a:p>
          <a:p>
            <a:r>
              <a:rPr sz="730" dirty="0">
                <a:solidFill>
                  <a:srgbClr val="DBE6EB"/>
                </a:solidFill>
              </a:rPr>
              <a:t>connections.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9047" y="1941818"/>
            <a:ext cx="5440680" cy="1417320"/>
          </a:xfrm>
          <a:prstGeom prst="roundRect">
            <a:avLst/>
          </a:prstGeom>
          <a:solidFill>
            <a:srgbClr val="12232B"/>
          </a:solidFill>
          <a:ln w="8890">
            <a:solidFill>
              <a:srgbClr val="274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63638" y="2060690"/>
            <a:ext cx="5111496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20" b="1">
                <a:solidFill>
                  <a:srgbClr val="74EB8F"/>
                </a:solidFill>
              </a:rPr>
              <a:t>Strong baseline recipe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38" y="2243570"/>
            <a:ext cx="5111496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10" b="1">
                <a:solidFill>
                  <a:srgbClr val="EEF4F8"/>
                </a:solidFill>
              </a:rPr>
              <a:t>“nnU-Net: a self-configuring method for deep learning-based biomedical image segmentation”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38" y="2655050"/>
            <a:ext cx="2136803" cy="1061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690" dirty="0" err="1">
                <a:solidFill>
                  <a:srgbClr val="AEBEC6"/>
                </a:solidFill>
              </a:rPr>
              <a:t>Isensee</a:t>
            </a:r>
            <a:r>
              <a:rPr sz="690" dirty="0">
                <a:solidFill>
                  <a:srgbClr val="AEBEC6"/>
                </a:solidFill>
              </a:rPr>
              <a:t> F. et al., Nature Methods, 18(2):203–211, 2021.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38" y="3002522"/>
            <a:ext cx="5111496" cy="2834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30">
                <a:solidFill>
                  <a:srgbClr val="DBE6EB"/>
                </a:solidFill>
              </a:rPr>
              <a:t>Use here: baseline strength depends on preprocessing, augmentation, validation and postprocessing—not architecture alone.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6887" y="3587738"/>
            <a:ext cx="5440680" cy="1417320"/>
          </a:xfrm>
          <a:prstGeom prst="roundRect">
            <a:avLst/>
          </a:prstGeom>
          <a:solidFill>
            <a:srgbClr val="12232B"/>
          </a:solidFill>
          <a:ln w="8890">
            <a:solidFill>
              <a:srgbClr val="274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79" y="3706610"/>
            <a:ext cx="5111496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20" b="1">
                <a:solidFill>
                  <a:srgbClr val="B296FF"/>
                </a:solidFill>
              </a:rPr>
              <a:t>Few-shot / universal prior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79" y="3889490"/>
            <a:ext cx="5111496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10" b="1">
                <a:solidFill>
                  <a:srgbClr val="EEF4F8"/>
                </a:solidFill>
              </a:rPr>
              <a:t>“UniverSeg: Universal Medical Image Segmentation”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4300969"/>
            <a:ext cx="1041952" cy="1061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690" dirty="0" err="1">
                <a:solidFill>
                  <a:srgbClr val="AEBEC6"/>
                </a:solidFill>
              </a:rPr>
              <a:t>Butoi</a:t>
            </a:r>
            <a:r>
              <a:rPr sz="690" dirty="0">
                <a:solidFill>
                  <a:srgbClr val="AEBEC6"/>
                </a:solidFill>
              </a:rPr>
              <a:t> V.I. et al., ICCV, 2023.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79" y="4648441"/>
            <a:ext cx="5111496" cy="2834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30">
                <a:solidFill>
                  <a:srgbClr val="DBE6EB"/>
                </a:solidFill>
              </a:rPr>
              <a:t>Use here: support-set segmentation motivates comparing pretrained/few-shot priors when task-specific masks are scarce.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99047" y="3587738"/>
            <a:ext cx="5440680" cy="1417320"/>
          </a:xfrm>
          <a:prstGeom prst="roundRect">
            <a:avLst/>
          </a:prstGeom>
          <a:solidFill>
            <a:srgbClr val="12232B"/>
          </a:solidFill>
          <a:ln w="8890">
            <a:solidFill>
              <a:srgbClr val="274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63638" y="3706610"/>
            <a:ext cx="5111496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20" b="1">
                <a:solidFill>
                  <a:srgbClr val="FFB74D"/>
                </a:solidFill>
              </a:rPr>
              <a:t>GenAI for ultra-low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38" y="3889490"/>
            <a:ext cx="5111496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10" b="1">
                <a:solidFill>
                  <a:srgbClr val="EEF4F8"/>
                </a:solidFill>
              </a:rPr>
              <a:t>“Generative AI enables medical image segmentation in ultra low-data regimes”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38" y="4300969"/>
            <a:ext cx="3074560" cy="1061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690" dirty="0">
                <a:solidFill>
                  <a:srgbClr val="AEBEC6"/>
                </a:solidFill>
              </a:rPr>
              <a:t>Zhang L. et al., Nature Communications, 2025. DOI:10.1038/s41467-025-61754-6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38" y="4648441"/>
            <a:ext cx="5111496" cy="2834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30">
                <a:solidFill>
                  <a:srgbClr val="DBE6EB"/>
                </a:solidFill>
              </a:rPr>
              <a:t>Use here: GenAI augmentation is relevant only after a clean leakage-free baseline is established.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5989320"/>
            <a:ext cx="11292840" cy="438912"/>
          </a:xfrm>
          <a:prstGeom prst="roundRect">
            <a:avLst/>
          </a:prstGeom>
          <a:solidFill>
            <a:srgbClr val="121F25"/>
          </a:solidFill>
          <a:ln w="6350">
            <a:solidFill>
              <a:srgbClr val="375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4360" y="6080759"/>
            <a:ext cx="109270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30" b="1">
                <a:solidFill>
                  <a:srgbClr val="FFB74D"/>
                </a:solidFill>
              </a:rPr>
              <a:t>Takeaway: </a:t>
            </a:r>
            <a:r>
              <a:rPr sz="830">
                <a:solidFill>
                  <a:srgbClr val="EEF4F8"/>
                </a:solidFill>
              </a:rPr>
              <a:t>For 7 subjects, the first claim must be a fair LOSO baseline; advanced models are meaningful only under the same leakage-free protocol.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850F37A-8D58-FCF8-B0F1-8D1388138818}"/>
              </a:ext>
            </a:extLst>
          </p:cNvPr>
          <p:cNvGrpSpPr/>
          <p:nvPr/>
        </p:nvGrpSpPr>
        <p:grpSpPr>
          <a:xfrm>
            <a:off x="0" y="0"/>
            <a:ext cx="12182856" cy="45719"/>
            <a:chOff x="0" y="143628"/>
            <a:chExt cx="12182856" cy="158123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026ED6F2-A472-7464-7625-7DEF205EAD8D}"/>
                </a:ext>
              </a:extLst>
            </p:cNvPr>
            <p:cNvSpPr/>
            <p:nvPr/>
          </p:nvSpPr>
          <p:spPr>
            <a:xfrm>
              <a:off x="0" y="143628"/>
              <a:ext cx="9815079" cy="158123"/>
            </a:xfrm>
            <a:prstGeom prst="rect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49C4EF9-F179-294A-A617-AEE6AFAA5071}"/>
                </a:ext>
              </a:extLst>
            </p:cNvPr>
            <p:cNvSpPr/>
            <p:nvPr/>
          </p:nvSpPr>
          <p:spPr>
            <a:xfrm>
              <a:off x="9815079" y="143629"/>
              <a:ext cx="993129" cy="158122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DACD9E6-7330-BF4C-7A2A-D1B5612FBE6D}"/>
                </a:ext>
              </a:extLst>
            </p:cNvPr>
            <p:cNvSpPr/>
            <p:nvPr/>
          </p:nvSpPr>
          <p:spPr>
            <a:xfrm>
              <a:off x="10808208" y="143628"/>
              <a:ext cx="1374648" cy="158121"/>
            </a:xfrm>
            <a:prstGeom prst="rect">
              <a:avLst/>
            </a:prstGeom>
            <a:gradFill flip="none" rotWithShape="1">
              <a:gsLst>
                <a:gs pos="0">
                  <a:srgbClr val="C00000">
                    <a:shade val="30000"/>
                    <a:satMod val="115000"/>
                  </a:srgbClr>
                </a:gs>
                <a:gs pos="50000">
                  <a:srgbClr val="C00000">
                    <a:shade val="67500"/>
                    <a:satMod val="115000"/>
                  </a:srgbClr>
                </a:gs>
                <a:gs pos="100000">
                  <a:srgbClr val="C00000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580">
                <a:solidFill>
                  <a:srgbClr val="738791"/>
                </a:solidFill>
              </a:rPr>
              <a:t>KM abdominal cold-region segmentation • literature framing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50040" y="6519672"/>
            <a:ext cx="2286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580">
                <a:solidFill>
                  <a:srgbClr val="738791"/>
                </a:solidFill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274320"/>
            <a:ext cx="1115568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300" b="1">
                <a:solidFill>
                  <a:srgbClr val="EEF4F8"/>
                </a:solidFill>
              </a:rPr>
              <a:t>Literature review III — Multiple annotations and uncertainty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" y="749808"/>
            <a:ext cx="6072047" cy="2077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50" dirty="0">
                <a:solidFill>
                  <a:srgbClr val="AEBEC6"/>
                </a:solidFill>
              </a:rPr>
              <a:t>Paper titles and tiny bibliography anchors for using doctor disagreement correctly.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1785255"/>
            <a:ext cx="5440680" cy="1417320"/>
          </a:xfrm>
          <a:prstGeom prst="roundRect">
            <a:avLst/>
          </a:prstGeom>
          <a:solidFill>
            <a:srgbClr val="12232B"/>
          </a:solidFill>
          <a:ln w="8890">
            <a:solidFill>
              <a:srgbClr val="274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904127"/>
            <a:ext cx="5111496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20" b="1">
                <a:solidFill>
                  <a:srgbClr val="59DCF5"/>
                </a:solidFill>
              </a:rPr>
              <a:t>Soft consensus labels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87007"/>
            <a:ext cx="5111496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10" b="1">
                <a:solidFill>
                  <a:srgbClr val="EEF4F8"/>
                </a:solidFill>
              </a:rPr>
              <a:t>“Using Soft Labels to Model Uncertainty in Medical Image Segmentation”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98487"/>
            <a:ext cx="2778005" cy="1061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690" dirty="0">
                <a:solidFill>
                  <a:srgbClr val="AEBEC6"/>
                </a:solidFill>
              </a:rPr>
              <a:t>Silva J.L. &amp; Oliveira A.L., arXiv:2109.12622 / </a:t>
            </a:r>
            <a:r>
              <a:rPr sz="690" dirty="0" err="1">
                <a:solidFill>
                  <a:srgbClr val="AEBEC6"/>
                </a:solidFill>
              </a:rPr>
              <a:t>Brainlesion</a:t>
            </a:r>
            <a:r>
              <a:rPr sz="690" dirty="0">
                <a:solidFill>
                  <a:srgbClr val="AEBEC6"/>
                </a:solidFill>
              </a:rPr>
              <a:t> LNCS, 2021–2022.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45959"/>
            <a:ext cx="5111496" cy="2834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30">
                <a:solidFill>
                  <a:srgbClr val="DBE6EB"/>
                </a:solidFill>
              </a:rPr>
              <a:t>Use here: convert multiple annotations into probabilistic labels; uncertainty becomes supervision rather than label noise.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785255"/>
            <a:ext cx="5440680" cy="1417320"/>
          </a:xfrm>
          <a:prstGeom prst="roundRect">
            <a:avLst/>
          </a:prstGeom>
          <a:solidFill>
            <a:srgbClr val="12232B"/>
          </a:solidFill>
          <a:ln w="8890">
            <a:solidFill>
              <a:srgbClr val="274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799" y="1904127"/>
            <a:ext cx="5111496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20" b="1">
                <a:solidFill>
                  <a:srgbClr val="74EB8F"/>
                </a:solidFill>
              </a:rPr>
              <a:t>Annotator reliability + consensus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799" y="2087007"/>
            <a:ext cx="5111496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10" b="1">
                <a:solidFill>
                  <a:srgbClr val="EEF4F8"/>
                </a:solidFill>
              </a:rPr>
              <a:t>“Learning from multiple annotators for medical image segmentation”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799" y="2498487"/>
            <a:ext cx="3409588" cy="1061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690" dirty="0">
                <a:solidFill>
                  <a:srgbClr val="AEBEC6"/>
                </a:solidFill>
              </a:rPr>
              <a:t>Zhang L. et al., Pattern Recognition, 138:109400, 2023. DOI:10.1016/j.patcog.2023.109400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799" y="2845959"/>
            <a:ext cx="5111496" cy="2834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30">
                <a:solidFill>
                  <a:srgbClr val="DBE6EB"/>
                </a:solidFill>
              </a:rPr>
              <a:t>Use here: models expert consensus and annotator reliability when multiple noisy masks exist for the same image.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3431175"/>
            <a:ext cx="5440680" cy="1417320"/>
          </a:xfrm>
          <a:prstGeom prst="roundRect">
            <a:avLst/>
          </a:prstGeom>
          <a:solidFill>
            <a:srgbClr val="12232B"/>
          </a:solidFill>
          <a:ln w="8890">
            <a:solidFill>
              <a:srgbClr val="274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3550047"/>
            <a:ext cx="5111496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20" b="1">
                <a:solidFill>
                  <a:srgbClr val="B296FF"/>
                </a:solidFill>
              </a:rPr>
              <a:t>Rater-aware prompting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732927"/>
            <a:ext cx="5111496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10" b="1">
                <a:solidFill>
                  <a:srgbClr val="EEF4F8"/>
                </a:solidFill>
              </a:rPr>
              <a:t>“Multi-rater Prompting for Ambiguous Medical Image Segmentation”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44406"/>
            <a:ext cx="1954061" cy="1061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690" dirty="0">
                <a:solidFill>
                  <a:srgbClr val="AEBEC6"/>
                </a:solidFill>
              </a:rPr>
              <a:t>Wang J. et al., IEEE BIBM, 2024 / arXiv:2404.07580.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491878"/>
            <a:ext cx="5111496" cy="2834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30">
                <a:solidFill>
                  <a:srgbClr val="DBE6EB"/>
                </a:solidFill>
              </a:rPr>
              <a:t>Use here: shows how rater identity and disagreement can be encoded without treating all hard masks as independent truth.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3431175"/>
            <a:ext cx="5440680" cy="1417320"/>
          </a:xfrm>
          <a:prstGeom prst="roundRect">
            <a:avLst/>
          </a:prstGeom>
          <a:solidFill>
            <a:srgbClr val="12232B"/>
          </a:solidFill>
          <a:ln w="8890">
            <a:solidFill>
              <a:srgbClr val="274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799" y="3550047"/>
            <a:ext cx="5111496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20" b="1">
                <a:solidFill>
                  <a:srgbClr val="FFB74D"/>
                </a:solidFill>
              </a:rPr>
              <a:t>Ambiguity-aware semi-supervision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799" y="3732927"/>
            <a:ext cx="5111496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10" b="1">
                <a:solidFill>
                  <a:srgbClr val="EEF4F8"/>
                </a:solidFill>
              </a:rPr>
              <a:t>“Annotation Ambiguity Aware Semi-Supervised Medical Image Segmentation”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799" y="4144406"/>
            <a:ext cx="1274388" cy="1061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690" dirty="0">
                <a:solidFill>
                  <a:srgbClr val="AEBEC6"/>
                </a:solidFill>
              </a:rPr>
              <a:t>Kumari S. &amp; Singh P., CVPR, 2025.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799" y="4491878"/>
            <a:ext cx="5111496" cy="2834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30">
                <a:solidFill>
                  <a:srgbClr val="DBE6EB"/>
                </a:solidFill>
              </a:rPr>
              <a:t>Use here: supports the idea that ambiguous expert labels can generate diverse plausible masks, especially in low-label regimes.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5989320"/>
            <a:ext cx="11292840" cy="438912"/>
          </a:xfrm>
          <a:prstGeom prst="roundRect">
            <a:avLst/>
          </a:prstGeom>
          <a:solidFill>
            <a:srgbClr val="121F25"/>
          </a:solidFill>
          <a:ln w="6350">
            <a:solidFill>
              <a:srgbClr val="375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4360" y="6080759"/>
            <a:ext cx="109270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30" b="1">
                <a:solidFill>
                  <a:srgbClr val="FFB74D"/>
                </a:solidFill>
              </a:rPr>
              <a:t>Takeaway: </a:t>
            </a:r>
            <a:r>
              <a:rPr sz="830">
                <a:solidFill>
                  <a:srgbClr val="EEF4F8"/>
                </a:solidFill>
              </a:rPr>
              <a:t>If 12 annotations exist for one FIR image, group them into a soft consensus and uncertainty map instead of training 12 contradictory hard labels.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9927223-0D79-F50D-6AC0-C9802E05F158}"/>
              </a:ext>
            </a:extLst>
          </p:cNvPr>
          <p:cNvGrpSpPr/>
          <p:nvPr/>
        </p:nvGrpSpPr>
        <p:grpSpPr>
          <a:xfrm>
            <a:off x="0" y="0"/>
            <a:ext cx="12182856" cy="45719"/>
            <a:chOff x="0" y="143628"/>
            <a:chExt cx="12182856" cy="158123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5B2878D-EB58-1E86-1358-EC4822EA7208}"/>
                </a:ext>
              </a:extLst>
            </p:cNvPr>
            <p:cNvSpPr/>
            <p:nvPr/>
          </p:nvSpPr>
          <p:spPr>
            <a:xfrm>
              <a:off x="0" y="143628"/>
              <a:ext cx="9815079" cy="158123"/>
            </a:xfrm>
            <a:prstGeom prst="rect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878BB19A-CEC5-F4BF-D166-35B578054DFB}"/>
                </a:ext>
              </a:extLst>
            </p:cNvPr>
            <p:cNvSpPr/>
            <p:nvPr/>
          </p:nvSpPr>
          <p:spPr>
            <a:xfrm>
              <a:off x="9815079" y="143629"/>
              <a:ext cx="993129" cy="158122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2E8F8CEA-2459-C707-0334-243BB11AE60C}"/>
                </a:ext>
              </a:extLst>
            </p:cNvPr>
            <p:cNvSpPr/>
            <p:nvPr/>
          </p:nvSpPr>
          <p:spPr>
            <a:xfrm>
              <a:off x="10808208" y="143628"/>
              <a:ext cx="1374648" cy="158121"/>
            </a:xfrm>
            <a:prstGeom prst="rect">
              <a:avLst/>
            </a:prstGeom>
            <a:gradFill flip="none" rotWithShape="1">
              <a:gsLst>
                <a:gs pos="0">
                  <a:srgbClr val="C00000">
                    <a:shade val="30000"/>
                    <a:satMod val="115000"/>
                  </a:srgbClr>
                </a:gs>
                <a:gs pos="50000">
                  <a:srgbClr val="C00000">
                    <a:shade val="67500"/>
                    <a:satMod val="115000"/>
                  </a:srgbClr>
                </a:gs>
                <a:gs pos="100000">
                  <a:srgbClr val="C00000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3200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Description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868680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8C7D0"/>
                </a:solidFill>
              </a:rPr>
              <a:t>The next task is a dataset audit, because current metadata is incomplete.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4242816" cy="1517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FFB84D"/>
                </a:solidFill>
              </a:rPr>
              <a:t>Patients / subjects : </a:t>
            </a:r>
            <a:r>
              <a:rPr lang="en-US" sz="1400" dirty="0">
                <a:solidFill>
                  <a:srgbClr val="F4F8FA"/>
                </a:solidFill>
              </a:rPr>
              <a:t>7 subjects</a:t>
            </a:r>
            <a:endParaRPr lang="en-US" sz="1400" b="1" dirty="0">
              <a:solidFill>
                <a:srgbClr val="FFB84D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FFB84D"/>
                </a:solidFill>
              </a:rPr>
              <a:t>Doctors: </a:t>
            </a:r>
            <a:r>
              <a:rPr lang="en-US" sz="1400" dirty="0">
                <a:solidFill>
                  <a:srgbClr val="F4F8FA"/>
                </a:solidFill>
              </a:rPr>
              <a:t>4 KM doctors</a:t>
            </a:r>
            <a:endParaRPr lang="en-US" sz="1400" b="1" dirty="0">
              <a:solidFill>
                <a:srgbClr val="FFB84D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FFB84D"/>
                </a:solidFill>
              </a:rPr>
              <a:t>Annotation repeats: </a:t>
            </a:r>
            <a:r>
              <a:rPr lang="en-US" sz="1400" dirty="0">
                <a:solidFill>
                  <a:srgbClr val="F4F8FA"/>
                </a:solidFill>
              </a:rPr>
              <a:t>: 3 tries per doctor</a:t>
            </a:r>
            <a:endParaRPr lang="en-US" sz="1400" b="1" dirty="0">
              <a:solidFill>
                <a:srgbClr val="FFB84D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FFB84D"/>
                </a:solidFill>
              </a:rPr>
              <a:t>Image type: </a:t>
            </a:r>
            <a:r>
              <a:rPr lang="en-US" sz="1400" dirty="0">
                <a:solidFill>
                  <a:srgbClr val="F4F8FA"/>
                </a:solidFill>
              </a:rPr>
              <a:t>FIR thermal abdomen image, grayscale</a:t>
            </a:r>
            <a:r>
              <a:rPr lang="en-US" sz="1400" b="1" dirty="0">
                <a:solidFill>
                  <a:srgbClr val="FFB84D"/>
                </a:solidFill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FFB84D"/>
                </a:solidFill>
              </a:rPr>
              <a:t>Target label: </a:t>
            </a:r>
            <a:r>
              <a:rPr lang="en-US" sz="1400" dirty="0">
                <a:solidFill>
                  <a:srgbClr val="F4F8FA"/>
                </a:solidFill>
              </a:rPr>
              <a:t>Doctor-marked cold-region mask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43000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0818A"/>
                </a:solidFill>
              </a:rPr>
              <a:t>09</a:t>
            </a:r>
            <a:endParaRPr lang="en-US" sz="95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FCBB4F2-FE0E-5114-61D3-00793FA702F7}"/>
              </a:ext>
            </a:extLst>
          </p:cNvPr>
          <p:cNvGrpSpPr/>
          <p:nvPr/>
        </p:nvGrpSpPr>
        <p:grpSpPr>
          <a:xfrm>
            <a:off x="0" y="0"/>
            <a:ext cx="12182856" cy="45719"/>
            <a:chOff x="0" y="143628"/>
            <a:chExt cx="12182856" cy="158123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AF935EA-2F0E-805C-8289-2138B2A7B19E}"/>
                </a:ext>
              </a:extLst>
            </p:cNvPr>
            <p:cNvSpPr/>
            <p:nvPr/>
          </p:nvSpPr>
          <p:spPr>
            <a:xfrm>
              <a:off x="0" y="143628"/>
              <a:ext cx="9815079" cy="158123"/>
            </a:xfrm>
            <a:prstGeom prst="rect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3C96F9C-5A9C-9FBA-FD48-9E87AD02E62A}"/>
                </a:ext>
              </a:extLst>
            </p:cNvPr>
            <p:cNvSpPr/>
            <p:nvPr/>
          </p:nvSpPr>
          <p:spPr>
            <a:xfrm>
              <a:off x="9815079" y="143629"/>
              <a:ext cx="993129" cy="158122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5A1F7B2-A78E-9A2B-491F-DF154B7EEFAD}"/>
                </a:ext>
              </a:extLst>
            </p:cNvPr>
            <p:cNvSpPr/>
            <p:nvPr/>
          </p:nvSpPr>
          <p:spPr>
            <a:xfrm>
              <a:off x="10808208" y="143628"/>
              <a:ext cx="1374648" cy="158121"/>
            </a:xfrm>
            <a:prstGeom prst="rect">
              <a:avLst/>
            </a:prstGeom>
            <a:gradFill flip="none" rotWithShape="1">
              <a:gsLst>
                <a:gs pos="0">
                  <a:srgbClr val="C00000">
                    <a:shade val="30000"/>
                    <a:satMod val="115000"/>
                  </a:srgbClr>
                </a:gs>
                <a:gs pos="50000">
                  <a:srgbClr val="C00000">
                    <a:shade val="67500"/>
                    <a:satMod val="115000"/>
                  </a:srgbClr>
                </a:gs>
                <a:gs pos="100000">
                  <a:srgbClr val="C00000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37980E3-9849-CF71-7314-FF6F9D3C25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3556558"/>
              </p:ext>
            </p:extLst>
          </p:nvPr>
        </p:nvGraphicFramePr>
        <p:xfrm>
          <a:off x="6844294" y="1453896"/>
          <a:ext cx="4585706" cy="2371648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736082">
                  <a:extLst>
                    <a:ext uri="{9D8B030D-6E8A-4147-A177-3AD203B41FA5}">
                      <a16:colId xmlns:a16="http://schemas.microsoft.com/office/drawing/2014/main" val="3751549051"/>
                    </a:ext>
                  </a:extLst>
                </a:gridCol>
                <a:gridCol w="1069848">
                  <a:extLst>
                    <a:ext uri="{9D8B030D-6E8A-4147-A177-3AD203B41FA5}">
                      <a16:colId xmlns:a16="http://schemas.microsoft.com/office/drawing/2014/main" val="3919310526"/>
                    </a:ext>
                  </a:extLst>
                </a:gridCol>
                <a:gridCol w="1042416">
                  <a:extLst>
                    <a:ext uri="{9D8B030D-6E8A-4147-A177-3AD203B41FA5}">
                      <a16:colId xmlns:a16="http://schemas.microsoft.com/office/drawing/2014/main" val="2427857085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619091723"/>
                    </a:ext>
                  </a:extLst>
                </a:gridCol>
              </a:tblGrid>
              <a:tr h="296456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Subject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Avg body pixels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Avg cold pixels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Comment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5363920"/>
                  </a:ext>
                </a:extLst>
              </a:tr>
              <a:tr h="296456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S05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29464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1323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large body, moderate cold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1430040"/>
                  </a:ext>
                </a:extLst>
              </a:tr>
              <a:tr h="2964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S06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15443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1402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one extreme cold outlier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5074641"/>
                  </a:ext>
                </a:extLst>
              </a:tr>
              <a:tr h="2964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S07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16550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1561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large variation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0738505"/>
                  </a:ext>
                </a:extLst>
              </a:tr>
              <a:tr h="2964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S08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16078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417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small cold, one empty mask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7554781"/>
                  </a:ext>
                </a:extLst>
              </a:tr>
              <a:tr h="2964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S09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13150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334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small cold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8628536"/>
                  </a:ext>
                </a:extLst>
              </a:tr>
              <a:tr h="2964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S10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9319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260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very small cold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0076875"/>
                  </a:ext>
                </a:extLst>
              </a:tr>
              <a:tr h="2964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S11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13192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2032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large cold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0352868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444AE30F-99BC-D638-E7E8-ED2C2D2E596F}"/>
              </a:ext>
            </a:extLst>
          </p:cNvPr>
          <p:cNvSpPr txBox="1"/>
          <p:nvPr/>
        </p:nvSpPr>
        <p:spPr>
          <a:xfrm>
            <a:off x="441960" y="3578659"/>
            <a:ext cx="609447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C000"/>
                </a:solidFill>
              </a:rPr>
              <a:t>Important actual data problems: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56 cases have image-mask shape mismatch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1 case has empty body and empty cold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1 case has extremely large cold fraction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very tiny cold cases exist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3200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audit: required before further modeling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868680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8C7D0"/>
                </a:solidFill>
              </a:rPr>
              <a:t>We need to determine exactly what one training sample means.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389888"/>
            <a:ext cx="502920" cy="502920"/>
          </a:xfrm>
          <a:prstGeom prst="ellipse">
            <a:avLst/>
          </a:prstGeom>
          <a:solidFill>
            <a:srgbClr val="4DD7FF"/>
          </a:solidFill>
          <a:ln w="12700">
            <a:solidFill>
              <a:srgbClr val="4DD7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527048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1820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39903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F8FA"/>
                </a:solidFill>
              </a:rPr>
              <a:t>File inventory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371600" y="175564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B8C7D0"/>
                </a:solidFill>
              </a:rPr>
              <a:t>Count FIR images, masks, naming patterns, dimensions, label values.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85800" y="2871216"/>
            <a:ext cx="502920" cy="502920"/>
          </a:xfrm>
          <a:prstGeom prst="ellipse">
            <a:avLst/>
          </a:prstGeom>
          <a:solidFill>
            <a:srgbClr val="4DD7FF"/>
          </a:solidFill>
          <a:ln w="12700">
            <a:solidFill>
              <a:srgbClr val="4DD7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3008376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1820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288036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F8FA"/>
                </a:solidFill>
              </a:rPr>
              <a:t>Pairing verification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371600" y="3236976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B8C7D0"/>
                </a:solidFill>
              </a:rPr>
              <a:t>Confirm image-mask alignment and whether masks map to identical image captures.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85800" y="4352544"/>
            <a:ext cx="502920" cy="502920"/>
          </a:xfrm>
          <a:prstGeom prst="ellipse">
            <a:avLst/>
          </a:prstGeom>
          <a:solidFill>
            <a:srgbClr val="4DD7FF"/>
          </a:solidFill>
          <a:ln w="12700">
            <a:solidFill>
              <a:srgbClr val="4DD7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4489704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1820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436168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F8FA"/>
                </a:solidFill>
              </a:rPr>
              <a:t>Identity structure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371600" y="4718304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B8C7D0"/>
                </a:solidFill>
              </a:rPr>
              <a:t>Extract patient, case, doctor, try, and capture/session identifiers.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263640" y="1389888"/>
            <a:ext cx="502920" cy="502920"/>
          </a:xfrm>
          <a:prstGeom prst="ellipse">
            <a:avLst/>
          </a:prstGeom>
          <a:solidFill>
            <a:srgbClr val="4DD7FF"/>
          </a:solidFill>
          <a:ln w="12700">
            <a:solidFill>
              <a:srgbClr val="4DD7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28232" y="1527048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1820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49440" y="139903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F8FA"/>
                </a:solidFill>
              </a:rPr>
              <a:t>Duplicate image check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949440" y="175564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B8C7D0"/>
                </a:solidFill>
              </a:rPr>
              <a:t>Detect identical or near-identical thermal images across annotations.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263640" y="2871216"/>
            <a:ext cx="502920" cy="502920"/>
          </a:xfrm>
          <a:prstGeom prst="ellipse">
            <a:avLst/>
          </a:prstGeom>
          <a:solidFill>
            <a:srgbClr val="4DD7FF"/>
          </a:solidFill>
          <a:ln w="12700">
            <a:solidFill>
              <a:srgbClr val="4DD7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28232" y="3008376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1820"/>
                </a:solidFill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49440" y="288036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F8FA"/>
                </a:solidFill>
              </a:rPr>
              <a:t>Agreement analysis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949440" y="3236976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B8C7D0"/>
                </a:solidFill>
              </a:rPr>
              <a:t>Compute doctor/try variability, soft consensus, and uncertainty maps.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263640" y="4352544"/>
            <a:ext cx="502920" cy="502920"/>
          </a:xfrm>
          <a:prstGeom prst="ellipse">
            <a:avLst/>
          </a:prstGeom>
          <a:solidFill>
            <a:srgbClr val="4DD7FF"/>
          </a:solidFill>
          <a:ln w="12700">
            <a:solidFill>
              <a:srgbClr val="4DD7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28232" y="4489704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1820"/>
                </a:solidFill>
              </a:rPr>
              <a:t>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49440" y="436168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F8FA"/>
                </a:solidFill>
              </a:rPr>
              <a:t>QC flags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949440" y="4718304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B8C7D0"/>
                </a:solidFill>
              </a:rPr>
              <a:t>Find empty masks, abnormal labels, tiny/huge cold masks, body/cold mismatch.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685800" y="60167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B84D"/>
                </a:solidFill>
              </a:rPr>
              <a:t>Audit outputs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2148840" y="6016752"/>
            <a:ext cx="9098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F4F8FA"/>
                </a:solidFill>
              </a:rPr>
              <a:t>CSV tables + visualization grids: file inventory, pairing check, duplicate check, label statistics, agreement maps, problem-case list.</a:t>
            </a:r>
            <a:endParaRPr lang="en-US" sz="1320" dirty="0"/>
          </a:p>
        </p:txBody>
      </p:sp>
      <p:sp>
        <p:nvSpPr>
          <p:cNvPr id="33" name="Text 31"/>
          <p:cNvSpPr/>
          <p:nvPr/>
        </p:nvSpPr>
        <p:spPr>
          <a:xfrm>
            <a:off x="1143000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0818A"/>
                </a:solidFill>
              </a:rPr>
              <a:t>10</a:t>
            </a:r>
            <a:endParaRPr lang="en-US" sz="950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8771B5C-D074-353C-99CF-F46E00716756}"/>
              </a:ext>
            </a:extLst>
          </p:cNvPr>
          <p:cNvGrpSpPr/>
          <p:nvPr/>
        </p:nvGrpSpPr>
        <p:grpSpPr>
          <a:xfrm>
            <a:off x="0" y="0"/>
            <a:ext cx="12182856" cy="45719"/>
            <a:chOff x="0" y="143628"/>
            <a:chExt cx="12182856" cy="158123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22A5212-3500-A085-AA01-3433BE799464}"/>
                </a:ext>
              </a:extLst>
            </p:cNvPr>
            <p:cNvSpPr/>
            <p:nvPr/>
          </p:nvSpPr>
          <p:spPr>
            <a:xfrm>
              <a:off x="0" y="143628"/>
              <a:ext cx="9815079" cy="158123"/>
            </a:xfrm>
            <a:prstGeom prst="rect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17E2EF4D-3CC6-4B1D-430E-9BE710CCDDB9}"/>
                </a:ext>
              </a:extLst>
            </p:cNvPr>
            <p:cNvSpPr/>
            <p:nvPr/>
          </p:nvSpPr>
          <p:spPr>
            <a:xfrm>
              <a:off x="9815079" y="143629"/>
              <a:ext cx="993129" cy="158122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40E18250-D4E9-0A49-5F9B-2A293F9ED530}"/>
                </a:ext>
              </a:extLst>
            </p:cNvPr>
            <p:cNvSpPr/>
            <p:nvPr/>
          </p:nvSpPr>
          <p:spPr>
            <a:xfrm>
              <a:off x="10808208" y="143628"/>
              <a:ext cx="1374648" cy="158121"/>
            </a:xfrm>
            <a:prstGeom prst="rect">
              <a:avLst/>
            </a:prstGeom>
            <a:gradFill flip="none" rotWithShape="1">
              <a:gsLst>
                <a:gs pos="0">
                  <a:srgbClr val="C00000">
                    <a:shade val="30000"/>
                    <a:satMod val="115000"/>
                  </a:srgbClr>
                </a:gs>
                <a:gs pos="50000">
                  <a:srgbClr val="C00000">
                    <a:shade val="67500"/>
                    <a:satMod val="115000"/>
                  </a:srgbClr>
                </a:gs>
                <a:gs pos="100000">
                  <a:srgbClr val="C00000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3200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focus: annotation variability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868680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8C7D0"/>
                </a:solidFill>
              </a:rPr>
              <a:t>Multiple doctors and repeated annotations may encode clinical uncertainty.</a:t>
            </a:r>
            <a:endParaRPr lang="en-US" sz="1350" dirty="0"/>
          </a:p>
        </p:txBody>
      </p:sp>
      <p:pic>
        <p:nvPicPr>
          <p:cNvPr id="6" name="Image 0" descr="/mnt/data/preview2.web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95780"/>
            <a:ext cx="6949440" cy="3860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01000" y="1353312"/>
            <a:ext cx="3520440" cy="4754880"/>
          </a:xfrm>
          <a:prstGeom prst="roundRect">
            <a:avLst>
              <a:gd name="adj" fmla="val 3636"/>
            </a:avLst>
          </a:prstGeom>
          <a:solidFill>
            <a:srgbClr val="15222B"/>
          </a:solidFill>
          <a:ln w="12700">
            <a:solidFill>
              <a:srgbClr val="2A3B47">
                <a:alpha val="8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75320" y="16642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B84D"/>
                </a:solidFill>
              </a:rPr>
              <a:t>What to measure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302752" y="2212848"/>
            <a:ext cx="2788920" cy="2377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r>
              <a:rPr lang="en-US" sz="1570" dirty="0">
                <a:solidFill>
                  <a:srgbClr val="F4F8FA"/>
                </a:solidFill>
              </a:rPr>
              <a:t>within-doctor repeat consistency</a:t>
            </a:r>
            <a:endParaRPr lang="en-US" sz="1570" dirty="0"/>
          </a:p>
          <a:p>
            <a:r>
              <a:rPr lang="en-US" sz="1570" dirty="0">
                <a:solidFill>
                  <a:srgbClr val="F4F8FA"/>
                </a:solidFill>
              </a:rPr>
              <a:t>between-doctor agreement</a:t>
            </a:r>
            <a:endParaRPr lang="en-US" sz="1570" dirty="0"/>
          </a:p>
          <a:p>
            <a:r>
              <a:rPr lang="en-US" sz="1570" dirty="0">
                <a:solidFill>
                  <a:srgbClr val="F4F8FA"/>
                </a:solidFill>
              </a:rPr>
              <a:t>common cold core vs uncertain boundary</a:t>
            </a:r>
            <a:endParaRPr lang="en-US" sz="1570" dirty="0"/>
          </a:p>
          <a:p>
            <a:r>
              <a:rPr lang="en-US" sz="1570" dirty="0">
                <a:solidFill>
                  <a:srgbClr val="F4F8FA"/>
                </a:solidFill>
              </a:rPr>
              <a:t>whether annotations use same thermal image or repeated captures</a:t>
            </a:r>
            <a:endParaRPr lang="en-US" sz="1570" dirty="0"/>
          </a:p>
          <a:p>
            <a:r>
              <a:rPr lang="en-US" sz="1570" dirty="0">
                <a:solidFill>
                  <a:srgbClr val="F4F8FA"/>
                </a:solidFill>
              </a:rPr>
              <a:t>whether large disagreements follow patient/session pattern</a:t>
            </a:r>
            <a:endParaRPr lang="en-US" sz="1570" dirty="0"/>
          </a:p>
        </p:txBody>
      </p:sp>
      <p:sp>
        <p:nvSpPr>
          <p:cNvPr id="10" name="Text 7"/>
          <p:cNvSpPr/>
          <p:nvPr/>
        </p:nvSpPr>
        <p:spPr>
          <a:xfrm>
            <a:off x="8275320" y="50749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7AE582"/>
                </a:solidFill>
              </a:rPr>
              <a:t>Decision rule after audit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275320" y="539496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B8C7D0"/>
                </a:solidFill>
              </a:rPr>
              <a:t>If 12 masks belong to one image: build soft consensus and uncertainty; if they are separate captures: keep capture-level grouping.</a:t>
            </a:r>
            <a:endParaRPr lang="en-US" sz="1340" dirty="0"/>
          </a:p>
        </p:txBody>
      </p:sp>
      <p:sp>
        <p:nvSpPr>
          <p:cNvPr id="13" name="Text 10"/>
          <p:cNvSpPr/>
          <p:nvPr/>
        </p:nvSpPr>
        <p:spPr>
          <a:xfrm>
            <a:off x="1143000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0818A"/>
                </a:solidFill>
              </a:rPr>
              <a:t>11</a:t>
            </a:r>
            <a:endParaRPr lang="en-US" sz="95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70B7751-3853-A34A-D14E-26FD7220A0B4}"/>
              </a:ext>
            </a:extLst>
          </p:cNvPr>
          <p:cNvGrpSpPr/>
          <p:nvPr/>
        </p:nvGrpSpPr>
        <p:grpSpPr>
          <a:xfrm>
            <a:off x="0" y="0"/>
            <a:ext cx="12182856" cy="45719"/>
            <a:chOff x="0" y="143628"/>
            <a:chExt cx="12182856" cy="15812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E718CDD-E140-C5EE-8973-32ACA998038A}"/>
                </a:ext>
              </a:extLst>
            </p:cNvPr>
            <p:cNvSpPr/>
            <p:nvPr/>
          </p:nvSpPr>
          <p:spPr>
            <a:xfrm>
              <a:off x="0" y="143628"/>
              <a:ext cx="9815079" cy="158123"/>
            </a:xfrm>
            <a:prstGeom prst="rect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A1D8431-09EE-C8B5-82CD-ACC8F3F85E61}"/>
                </a:ext>
              </a:extLst>
            </p:cNvPr>
            <p:cNvSpPr/>
            <p:nvPr/>
          </p:nvSpPr>
          <p:spPr>
            <a:xfrm>
              <a:off x="9815079" y="143629"/>
              <a:ext cx="993129" cy="158122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757A898-95B4-BBA8-5ED3-F92219C9BF4B}"/>
                </a:ext>
              </a:extLst>
            </p:cNvPr>
            <p:cNvSpPr/>
            <p:nvPr/>
          </p:nvSpPr>
          <p:spPr>
            <a:xfrm>
              <a:off x="10808208" y="143628"/>
              <a:ext cx="1374648" cy="158121"/>
            </a:xfrm>
            <a:prstGeom prst="rect">
              <a:avLst/>
            </a:prstGeom>
            <a:gradFill flip="none" rotWithShape="1">
              <a:gsLst>
                <a:gs pos="0">
                  <a:srgbClr val="C00000">
                    <a:shade val="30000"/>
                    <a:satMod val="115000"/>
                  </a:srgbClr>
                </a:gs>
                <a:gs pos="50000">
                  <a:srgbClr val="C00000">
                    <a:shade val="67500"/>
                    <a:satMod val="115000"/>
                  </a:srgbClr>
                </a:gs>
                <a:gs pos="100000">
                  <a:srgbClr val="C00000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3200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Method gate: when to start experiments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868680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8C7D0"/>
                </a:solidFill>
              </a:rPr>
              <a:t>The method should be selected only after the dataset structure is clear.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68680" y="1435608"/>
            <a:ext cx="1143000" cy="438912"/>
          </a:xfrm>
          <a:prstGeom prst="chevron">
            <a:avLst/>
          </a:prstGeom>
          <a:solidFill>
            <a:srgbClr val="4DD7FF">
              <a:alpha val="98000"/>
            </a:srgbClr>
          </a:solidFill>
          <a:ln w="12700">
            <a:solidFill>
              <a:srgbClr val="4DD7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1581912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820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40280" y="15087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F8FA"/>
                </a:solidFill>
              </a:rPr>
              <a:t>Audit complete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754880" y="150876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B8C7D0"/>
                </a:solidFill>
              </a:rPr>
              <a:t>Image-mask pairs, duplicates, labels, and subject/case/doctor/try IDs verified.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868680" y="2350008"/>
            <a:ext cx="1143000" cy="438912"/>
          </a:xfrm>
          <a:prstGeom prst="chevron">
            <a:avLst/>
          </a:prstGeom>
          <a:solidFill>
            <a:srgbClr val="4DD7FF">
              <a:alpha val="98000"/>
            </a:srgbClr>
          </a:solidFill>
          <a:ln w="12700">
            <a:solidFill>
              <a:srgbClr val="4DD7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2496312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820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40280" y="24231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F8FA"/>
                </a:solidFill>
              </a:rPr>
              <a:t>Annotation mode chosen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54880" y="242316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B8C7D0"/>
                </a:solidFill>
              </a:rPr>
              <a:t>Single GT, soft 12-mask consensus, doctor-specific model, or uncertainty-aware training.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868680" y="3264408"/>
            <a:ext cx="1143000" cy="438912"/>
          </a:xfrm>
          <a:prstGeom prst="chevron">
            <a:avLst/>
          </a:prstGeom>
          <a:solidFill>
            <a:srgbClr val="4DD7FF">
              <a:alpha val="98000"/>
            </a:srgbClr>
          </a:solidFill>
          <a:ln w="12700">
            <a:solidFill>
              <a:srgbClr val="4DD7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15568" y="3410712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820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240280" y="33375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F8FA"/>
                </a:solidFill>
              </a:rPr>
              <a:t>Evaluation protocol fixed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754880" y="333756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B8C7D0"/>
                </a:solidFill>
              </a:rPr>
              <a:t>LOSO is mandatory: no subject overlap, threshold chosen only on validation subject.</a:t>
            </a:r>
            <a:endParaRPr lang="en-US" sz="1520" dirty="0"/>
          </a:p>
        </p:txBody>
      </p:sp>
      <p:sp>
        <p:nvSpPr>
          <p:cNvPr id="18" name="Shape 16"/>
          <p:cNvSpPr/>
          <p:nvPr/>
        </p:nvSpPr>
        <p:spPr>
          <a:xfrm>
            <a:off x="868680" y="4178808"/>
            <a:ext cx="1143000" cy="438912"/>
          </a:xfrm>
          <a:prstGeom prst="chevron">
            <a:avLst/>
          </a:prstGeom>
          <a:solidFill>
            <a:srgbClr val="FFB84D">
              <a:alpha val="98000"/>
            </a:srgbClr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5568" y="4325112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820"/>
                </a:solidFill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40280" y="42519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F8FA"/>
                </a:solidFill>
              </a:rPr>
              <a:t>Baseline clean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754880" y="425196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B8C7D0"/>
                </a:solidFill>
              </a:rPr>
              <a:t>Hierarchical body+cold baseline reruns reproducibly with all CSVs and failure tables.</a:t>
            </a:r>
            <a:endParaRPr lang="en-US" sz="1520" dirty="0"/>
          </a:p>
        </p:txBody>
      </p:sp>
      <p:sp>
        <p:nvSpPr>
          <p:cNvPr id="22" name="Shape 20"/>
          <p:cNvSpPr/>
          <p:nvPr/>
        </p:nvSpPr>
        <p:spPr>
          <a:xfrm>
            <a:off x="868680" y="5093208"/>
            <a:ext cx="1143000" cy="438912"/>
          </a:xfrm>
          <a:prstGeom prst="chevron">
            <a:avLst/>
          </a:prstGeom>
          <a:solidFill>
            <a:srgbClr val="FFB84D">
              <a:alpha val="98000"/>
            </a:srgbClr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15568" y="5239512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820"/>
                </a:solidFill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240280" y="51663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F8FA"/>
                </a:solidFill>
              </a:rPr>
              <a:t>Advanced methods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754880" y="516636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B8C7D0"/>
                </a:solidFill>
              </a:rPr>
              <a:t>Only then compare transfer learning, MedSAM-style priors, diffusion/GAN augmentation.</a:t>
            </a:r>
            <a:endParaRPr lang="en-US" sz="1520" dirty="0"/>
          </a:p>
        </p:txBody>
      </p:sp>
      <p:sp>
        <p:nvSpPr>
          <p:cNvPr id="27" name="Text 25"/>
          <p:cNvSpPr/>
          <p:nvPr/>
        </p:nvSpPr>
        <p:spPr>
          <a:xfrm>
            <a:off x="1143000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0818A"/>
                </a:solidFill>
              </a:rPr>
              <a:t>12</a:t>
            </a:r>
            <a:endParaRPr lang="en-US" sz="95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93BD694-70E8-1D12-86A9-E9138A14101B}"/>
              </a:ext>
            </a:extLst>
          </p:cNvPr>
          <p:cNvGrpSpPr/>
          <p:nvPr/>
        </p:nvGrpSpPr>
        <p:grpSpPr>
          <a:xfrm>
            <a:off x="0" y="0"/>
            <a:ext cx="12182856" cy="45719"/>
            <a:chOff x="0" y="143628"/>
            <a:chExt cx="12182856" cy="158123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3370D48-47EA-9E7B-CF00-FE68765CCA1F}"/>
                </a:ext>
              </a:extLst>
            </p:cNvPr>
            <p:cNvSpPr/>
            <p:nvPr/>
          </p:nvSpPr>
          <p:spPr>
            <a:xfrm>
              <a:off x="0" y="143628"/>
              <a:ext cx="9815079" cy="158123"/>
            </a:xfrm>
            <a:prstGeom prst="rect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0C4E0FD1-B700-3C13-2E3C-3EA149BF8119}"/>
                </a:ext>
              </a:extLst>
            </p:cNvPr>
            <p:cNvSpPr/>
            <p:nvPr/>
          </p:nvSpPr>
          <p:spPr>
            <a:xfrm>
              <a:off x="9815079" y="143629"/>
              <a:ext cx="993129" cy="158122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E4665ED-8F71-D558-7ACC-D6AD9E727FF0}"/>
                </a:ext>
              </a:extLst>
            </p:cNvPr>
            <p:cNvSpPr/>
            <p:nvPr/>
          </p:nvSpPr>
          <p:spPr>
            <a:xfrm>
              <a:off x="10808208" y="143628"/>
              <a:ext cx="1374648" cy="158121"/>
            </a:xfrm>
            <a:prstGeom prst="rect">
              <a:avLst/>
            </a:prstGeom>
            <a:gradFill flip="none" rotWithShape="1">
              <a:gsLst>
                <a:gs pos="0">
                  <a:srgbClr val="C00000">
                    <a:shade val="30000"/>
                    <a:satMod val="115000"/>
                  </a:srgbClr>
                </a:gs>
                <a:gs pos="50000">
                  <a:srgbClr val="C00000">
                    <a:shade val="67500"/>
                    <a:satMod val="115000"/>
                  </a:srgbClr>
                </a:gs>
                <a:gs pos="100000">
                  <a:srgbClr val="C00000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3200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presentation boundary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868680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8C7D0"/>
                </a:solidFill>
              </a:rPr>
              <a:t>Methods and results will be added after the dataset audit.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5074920" cy="4343400"/>
          </a:xfrm>
          <a:prstGeom prst="roundRect">
            <a:avLst>
              <a:gd name="adj" fmla="val 2947"/>
            </a:avLst>
          </a:prstGeom>
          <a:solidFill>
            <a:srgbClr val="15222B"/>
          </a:solidFill>
          <a:ln w="12700">
            <a:solidFill>
              <a:srgbClr val="2A3B47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373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7AE582"/>
                </a:solidFill>
              </a:rPr>
              <a:t>This deck covers now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05840" y="2331720"/>
            <a:ext cx="425196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650" dirty="0">
                <a:solidFill>
                  <a:srgbClr val="F4F8FA"/>
                </a:solidFill>
              </a:rPr>
              <a:t>Problem statement and visualization</a:t>
            </a:r>
            <a:endParaRPr lang="en-US" sz="1650" dirty="0"/>
          </a:p>
          <a:p>
            <a:r>
              <a:rPr lang="en-US" sz="1650" dirty="0">
                <a:solidFill>
                  <a:srgbClr val="F4F8FA"/>
                </a:solidFill>
              </a:rPr>
              <a:t>Clinical motivation and expected value</a:t>
            </a:r>
            <a:endParaRPr lang="en-US" sz="1650" dirty="0"/>
          </a:p>
          <a:p>
            <a:r>
              <a:rPr lang="en-US" sz="1650" dirty="0">
                <a:solidFill>
                  <a:srgbClr val="F4F8FA"/>
                </a:solidFill>
              </a:rPr>
              <a:t>Literature framing for thermal imaging, low-data segmentation, and multi-rater labels</a:t>
            </a:r>
            <a:endParaRPr lang="en-US" sz="1650" dirty="0"/>
          </a:p>
          <a:p>
            <a:r>
              <a:rPr lang="en-US" sz="1650" dirty="0">
                <a:solidFill>
                  <a:srgbClr val="F4F8FA"/>
                </a:solidFill>
              </a:rPr>
              <a:t>Dataset audit questions and required outputs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419088" y="1417320"/>
            <a:ext cx="5074920" cy="4343400"/>
          </a:xfrm>
          <a:prstGeom prst="roundRect">
            <a:avLst>
              <a:gd name="adj" fmla="val 2947"/>
            </a:avLst>
          </a:prstGeom>
          <a:solidFill>
            <a:srgbClr val="15222B"/>
          </a:solidFill>
          <a:ln w="12700">
            <a:solidFill>
              <a:srgbClr val="2A3B47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39128" y="17373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B84D"/>
                </a:solidFill>
              </a:rPr>
              <a:t>To add later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739128" y="2331720"/>
            <a:ext cx="4343400" cy="2103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650" dirty="0">
                <a:solidFill>
                  <a:srgbClr val="F4F8FA"/>
                </a:solidFill>
              </a:rPr>
              <a:t>Dataset audit findings with actual tables and visualization grids</a:t>
            </a:r>
            <a:endParaRPr lang="en-US" sz="1650" dirty="0"/>
          </a:p>
          <a:p>
            <a:r>
              <a:rPr lang="en-US" sz="1650" dirty="0">
                <a:solidFill>
                  <a:srgbClr val="F4F8FA"/>
                </a:solidFill>
              </a:rPr>
              <a:t>Clean LOSO baseline design and metrics</a:t>
            </a:r>
            <a:endParaRPr lang="en-US" sz="1650" dirty="0"/>
          </a:p>
          <a:p>
            <a:r>
              <a:rPr lang="en-US" sz="1650" dirty="0">
                <a:solidFill>
                  <a:srgbClr val="F4F8FA"/>
                </a:solidFill>
              </a:rPr>
              <a:t>Failure analysis subject-by-subject and image-by-image</a:t>
            </a:r>
            <a:endParaRPr lang="en-US" sz="1650" dirty="0"/>
          </a:p>
          <a:p>
            <a:r>
              <a:rPr lang="en-US" sz="1650" dirty="0">
                <a:solidFill>
                  <a:srgbClr val="F4F8FA"/>
                </a:solidFill>
              </a:rPr>
              <a:t>Controlled experiments: transfer learning, MedSAM/GenAI augmentation, uncertainty model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77240" y="605332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B84D"/>
                </a:solidFill>
              </a:rPr>
              <a:t>Core message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148840" y="60533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F4F8FA"/>
                </a:solidFill>
              </a:rPr>
              <a:t>The project is promising, but the dataset must be understood before we can make a defensible modeling claim.</a:t>
            </a:r>
            <a:endParaRPr lang="en-US" sz="1340" dirty="0"/>
          </a:p>
        </p:txBody>
      </p:sp>
      <p:sp>
        <p:nvSpPr>
          <p:cNvPr id="15" name="Text 13"/>
          <p:cNvSpPr/>
          <p:nvPr/>
        </p:nvSpPr>
        <p:spPr>
          <a:xfrm>
            <a:off x="1143000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0818A"/>
                </a:solidFill>
              </a:rPr>
              <a:t>13</a:t>
            </a:r>
            <a:endParaRPr lang="en-US" sz="95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CBE4AAE-8225-8136-975F-8BC0C4E9C355}"/>
              </a:ext>
            </a:extLst>
          </p:cNvPr>
          <p:cNvGrpSpPr/>
          <p:nvPr/>
        </p:nvGrpSpPr>
        <p:grpSpPr>
          <a:xfrm>
            <a:off x="0" y="0"/>
            <a:ext cx="12182856" cy="45719"/>
            <a:chOff x="0" y="143628"/>
            <a:chExt cx="12182856" cy="15812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494AE0E-2E46-C309-2925-D7CA13F75451}"/>
                </a:ext>
              </a:extLst>
            </p:cNvPr>
            <p:cNvSpPr/>
            <p:nvPr/>
          </p:nvSpPr>
          <p:spPr>
            <a:xfrm>
              <a:off x="0" y="143628"/>
              <a:ext cx="9815079" cy="158123"/>
            </a:xfrm>
            <a:prstGeom prst="rect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E5090FE-2B11-0D9C-F8D8-9CFFDD66A24C}"/>
                </a:ext>
              </a:extLst>
            </p:cNvPr>
            <p:cNvSpPr/>
            <p:nvPr/>
          </p:nvSpPr>
          <p:spPr>
            <a:xfrm>
              <a:off x="9815079" y="143629"/>
              <a:ext cx="993129" cy="158122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7583E94-D6A8-F220-4132-F2C6049EF279}"/>
                </a:ext>
              </a:extLst>
            </p:cNvPr>
            <p:cNvSpPr/>
            <p:nvPr/>
          </p:nvSpPr>
          <p:spPr>
            <a:xfrm>
              <a:off x="10808208" y="143628"/>
              <a:ext cx="1374648" cy="158121"/>
            </a:xfrm>
            <a:prstGeom prst="rect">
              <a:avLst/>
            </a:prstGeom>
            <a:gradFill flip="none" rotWithShape="1">
              <a:gsLst>
                <a:gs pos="0">
                  <a:srgbClr val="C00000">
                    <a:shade val="30000"/>
                    <a:satMod val="115000"/>
                  </a:srgbClr>
                </a:gs>
                <a:gs pos="50000">
                  <a:srgbClr val="C00000">
                    <a:shade val="67500"/>
                    <a:satMod val="115000"/>
                  </a:srgbClr>
                </a:gs>
                <a:gs pos="100000">
                  <a:srgbClr val="C00000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3200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references for this section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868680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8C7D0"/>
                </a:solidFill>
              </a:rPr>
              <a:t>Short literature anchors used in the presentation draft.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13232" y="137160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B84D"/>
                </a:solidFill>
              </a:rPr>
              <a:t>1.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78992" y="1353312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F4F8FA"/>
                </a:solidFill>
              </a:rPr>
              <a:t>Wang et al. (2022). Convolutional neural network-based computer-aided diagnosis in Hiesho (cold sensation). Computer Methods and Programs in Biomedicine.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713232" y="202996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B84D"/>
                </a:solidFill>
              </a:rPr>
              <a:t>2.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78992" y="2011680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F4F8FA"/>
                </a:solidFill>
              </a:rPr>
              <a:t>Childs et al. (2020). Abdominal Cutaneous Thermography and Perfusion Mapping after Caesarean Section: A Scoping Review. IJERPH.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713232" y="2688336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B84D"/>
                </a:solidFill>
              </a:rPr>
              <a:t>3.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78992" y="2670048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F4F8FA"/>
                </a:solidFill>
              </a:rPr>
              <a:t>Childs et al. (2023). Cutaneous Perfusion Dynamics of the Lower Abdomen in Healthy Volunteers. IJERPH.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713232" y="3346704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B84D"/>
                </a:solidFill>
              </a:rPr>
              <a:t>4.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78992" y="3328416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F4F8FA"/>
                </a:solidFill>
              </a:rPr>
              <a:t>Ronneberger et al. (2015). U-Net: Convolutional Networks for Biomedical Image Segmentation. MICCAI.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713232" y="400507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B84D"/>
                </a:solidFill>
              </a:rPr>
              <a:t>5.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78992" y="3986784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F4F8FA"/>
                </a:solidFill>
              </a:rPr>
              <a:t>Silva &amp; Oliveira (2021). Using Soft Labels to Model Uncertainty in Medical Image Segmentation.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713232" y="46634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B84D"/>
                </a:solidFill>
              </a:rPr>
              <a:t>6.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78992" y="4645152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F4F8FA"/>
                </a:solidFill>
              </a:rPr>
              <a:t>Zhang et al. (2023). A Soft Label Method for Medical Image Segmentation / multi-rater soft-label modeling.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713232" y="5989320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B8C7D0"/>
                </a:solidFill>
              </a:rPr>
              <a:t>Project source note: user-provided PROJECT_EXPLANATION.md and project visual materials were used for the clinical workflow and dataset framing.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43000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0818A"/>
                </a:solidFill>
              </a:rPr>
              <a:t>14</a:t>
            </a:r>
            <a:endParaRPr lang="en-US" sz="95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2D5656E-2F83-7B95-D00E-C197242FD130}"/>
              </a:ext>
            </a:extLst>
          </p:cNvPr>
          <p:cNvGrpSpPr/>
          <p:nvPr/>
        </p:nvGrpSpPr>
        <p:grpSpPr>
          <a:xfrm>
            <a:off x="0" y="0"/>
            <a:ext cx="12182856" cy="45719"/>
            <a:chOff x="0" y="143628"/>
            <a:chExt cx="12182856" cy="15812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C8BC499-E8AF-838B-A1AF-E39B36F2A0FA}"/>
                </a:ext>
              </a:extLst>
            </p:cNvPr>
            <p:cNvSpPr/>
            <p:nvPr/>
          </p:nvSpPr>
          <p:spPr>
            <a:xfrm>
              <a:off x="0" y="143628"/>
              <a:ext cx="9815079" cy="158123"/>
            </a:xfrm>
            <a:prstGeom prst="rect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4C835B3-2B99-690F-3D6C-3FE1FDA0FEB1}"/>
                </a:ext>
              </a:extLst>
            </p:cNvPr>
            <p:cNvSpPr/>
            <p:nvPr/>
          </p:nvSpPr>
          <p:spPr>
            <a:xfrm>
              <a:off x="9815079" y="143629"/>
              <a:ext cx="993129" cy="158122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3714A99-F325-6898-ABFC-125A4263251D}"/>
                </a:ext>
              </a:extLst>
            </p:cNvPr>
            <p:cNvSpPr/>
            <p:nvPr/>
          </p:nvSpPr>
          <p:spPr>
            <a:xfrm>
              <a:off x="10808208" y="143628"/>
              <a:ext cx="1374648" cy="158121"/>
            </a:xfrm>
            <a:prstGeom prst="rect">
              <a:avLst/>
            </a:prstGeom>
            <a:gradFill flip="none" rotWithShape="1">
              <a:gsLst>
                <a:gs pos="0">
                  <a:srgbClr val="C00000">
                    <a:shade val="30000"/>
                    <a:satMod val="115000"/>
                  </a:srgbClr>
                </a:gs>
                <a:gs pos="50000">
                  <a:srgbClr val="C00000">
                    <a:shade val="67500"/>
                    <a:satMod val="115000"/>
                  </a:srgbClr>
                </a:gs>
                <a:gs pos="100000">
                  <a:srgbClr val="C00000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1853</Words>
  <Application>Microsoft Office PowerPoint</Application>
  <PresentationFormat>Widescreen</PresentationFormat>
  <Paragraphs>276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KopubWorld Dotum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KM Abdominal Cold Region Segmentation</dc:title>
  <dc:subject>Abdominal thermal cold-region segmentation project</dc:subject>
  <dc:creator>OpenAI</dc:creator>
  <cp:lastModifiedBy>Rafsan Jany</cp:lastModifiedBy>
  <cp:revision>19</cp:revision>
  <dcterms:created xsi:type="dcterms:W3CDTF">2026-06-19T03:08:32Z</dcterms:created>
  <dcterms:modified xsi:type="dcterms:W3CDTF">2026-06-19T07:27:39Z</dcterms:modified>
</cp:coreProperties>
</file>
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2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7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95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49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88720" y="1876693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Abdominal Cold-Region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155716" y="2438566"/>
            <a:ext cx="78805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B8C7D0"/>
                </a:solidFill>
              </a:rPr>
              <a:t>From Korean Medicine palpation expertise to objective thermal-imaging AI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907539" y="3434723"/>
            <a:ext cx="331091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3345" y="3581202"/>
            <a:ext cx="3433572" cy="82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2"/>
                </a:solidFill>
              </a:rPr>
              <a:t>Rafsan Jany (02513052)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2"/>
                </a:solidFill>
              </a:rPr>
              <a:t>Integrated Program (3</a:t>
            </a:r>
            <a:r>
              <a:rPr lang="en-US" sz="1600" b="1" baseline="30000" dirty="0">
                <a:solidFill>
                  <a:schemeClr val="bg2"/>
                </a:solidFill>
              </a:rPr>
              <a:t>rd</a:t>
            </a:r>
            <a:r>
              <a:rPr lang="en-US" sz="1600" b="1" dirty="0">
                <a:solidFill>
                  <a:schemeClr val="bg2"/>
                </a:solidFill>
              </a:rPr>
              <a:t> Semester)</a:t>
            </a:r>
          </a:p>
          <a:p>
            <a:pPr>
              <a:lnSpc>
                <a:spcPct val="150000"/>
              </a:lnSpc>
            </a:pPr>
            <a:r>
              <a:rPr lang="en-US" sz="1600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KopubWorld Dotum"/>
              </a:rPr>
              <a:t>KM Informatics and AI</a:t>
            </a:r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01</a:t>
            </a:r>
            <a:endParaRPr lang="en-US" sz="9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9C07C5-BD00-6E8C-7CC3-0019FC02D720}"/>
              </a:ext>
            </a:extLst>
          </p:cNvPr>
          <p:cNvGrpSpPr/>
          <p:nvPr/>
        </p:nvGrpSpPr>
        <p:grpSpPr>
          <a:xfrm>
            <a:off x="0" y="0"/>
            <a:ext cx="12182856" cy="82905"/>
            <a:chOff x="0" y="143628"/>
            <a:chExt cx="12182856" cy="1581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C0B7DD-28FF-5A4B-909F-F1F32F76B1D2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BE8A8F-1ADA-200E-8B9B-93DBE125D26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4B886F-DCE6-EF8C-1018-CC8EA73B0A09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51">
            <a:extLst>
              <a:ext uri="{FF2B5EF4-FFF2-40B4-BE49-F238E27FC236}">
                <a16:creationId xmlns:a16="http://schemas.microsoft.com/office/drawing/2014/main" id="{7139959D-ADA4-F44D-70DF-559F8E13F9D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992162" y="205508"/>
            <a:ext cx="2144643" cy="1125272"/>
          </a:xfrm>
          <a:prstGeom prst="rect">
            <a:avLst/>
          </a:prstGeom>
          <a:ln w="0"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94F7A9A-FA4F-47C7-79A2-52572D6EA08F}"/>
              </a:ext>
            </a:extLst>
          </p:cNvPr>
          <p:cNvGrpSpPr/>
          <p:nvPr/>
        </p:nvGrpSpPr>
        <p:grpSpPr>
          <a:xfrm>
            <a:off x="0" y="173634"/>
            <a:ext cx="1739590" cy="1599410"/>
            <a:chOff x="2776654" y="168002"/>
            <a:chExt cx="6809700" cy="6689998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6D6AABA-3FF3-2A94-AE22-5E46251D4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6654" y="168002"/>
              <a:ext cx="6809700" cy="6689998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C4B206A-B8D7-05D6-D403-F6C381980585}"/>
                </a:ext>
              </a:extLst>
            </p:cNvPr>
            <p:cNvSpPr/>
            <p:nvPr/>
          </p:nvSpPr>
          <p:spPr>
            <a:xfrm>
              <a:off x="9038844" y="6264375"/>
              <a:ext cx="376502" cy="4290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7CDF471-9CE4-3393-3188-9B9046E43D1C}"/>
              </a:ext>
            </a:extLst>
          </p:cNvPr>
          <p:cNvGrpSpPr/>
          <p:nvPr/>
        </p:nvGrpSpPr>
        <p:grpSpPr>
          <a:xfrm>
            <a:off x="1647814" y="2952725"/>
            <a:ext cx="9125415" cy="45719"/>
            <a:chOff x="0" y="143628"/>
            <a:chExt cx="12182856" cy="15812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13084C9-8CC1-BDE9-8881-8680D757B6AC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2E6A9F9-7412-5D5F-3AFB-225185368966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A27BE09-2309-F63C-5C29-66CF6D60D9B2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66928" y="74980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Abdominal Cold-Region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8C7D0"/>
                </a:solidFill>
              </a:rPr>
              <a:t>From Korean Medicine palpation expertise to objective thermal-imaging AI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</a:rPr>
              <a:t>Clinical signal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“Feeling of cold” during abdominal palpation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03320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D7FF"/>
                </a:solidFill>
              </a:rPr>
              <a:t>Imaging proxy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13632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FIR thermal image of abdominal region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8272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E582"/>
                </a:solidFill>
              </a:rPr>
              <a:t>AI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8584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Pixel-level cold-region mask reproducible across subjects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02152" y="3346704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47104" y="3346704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1792" y="601675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Draft deck: problem, motivation, literature, and dataset audit plan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01</a:t>
            </a:r>
            <a:endParaRPr lang="en-US" sz="9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39C07C5-BD00-6E8C-7CC3-0019FC02D720}"/>
              </a:ext>
            </a:extLst>
          </p:cNvPr>
          <p:cNvGrpSpPr/>
          <p:nvPr/>
        </p:nvGrpSpPr>
        <p:grpSpPr>
          <a:xfrm>
            <a:off x="0" y="0"/>
            <a:ext cx="12182856" cy="158123"/>
            <a:chOff x="0" y="143628"/>
            <a:chExt cx="12182856" cy="15812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C0B7DD-28FF-5A4B-909F-F1F32F76B1D2}"/>
                </a:ext>
              </a:extLst>
            </p:cNvPr>
            <p:cNvSpPr/>
            <p:nvPr/>
          </p:nvSpPr>
          <p:spPr>
            <a:xfrm>
              <a:off x="0" y="143628"/>
              <a:ext cx="9815079" cy="158123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BE8A8F-1ADA-200E-8B9B-93DBE125D261}"/>
                </a:ext>
              </a:extLst>
            </p:cNvPr>
            <p:cNvSpPr/>
            <p:nvPr/>
          </p:nvSpPr>
          <p:spPr>
            <a:xfrm>
              <a:off x="9815079" y="143629"/>
              <a:ext cx="993129" cy="15812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4B886F-DCE6-EF8C-1018-CC8EA73B0A09}"/>
                </a:ext>
              </a:extLst>
            </p:cNvPr>
            <p:cNvSpPr/>
            <p:nvPr/>
          </p:nvSpPr>
          <p:spPr>
            <a:xfrm>
              <a:off x="10808208" y="143628"/>
              <a:ext cx="1374648" cy="158121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9" name="Picture 51">
            <a:extLst>
              <a:ext uri="{FF2B5EF4-FFF2-40B4-BE49-F238E27FC236}">
                <a16:creationId xmlns:a16="http://schemas.microsoft.com/office/drawing/2014/main" id="{7139959D-ADA4-F44D-70DF-559F8E13F9D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875539" y="79060"/>
            <a:ext cx="1561680" cy="737640"/>
          </a:xfrm>
          <a:prstGeom prst="rect">
            <a:avLst/>
          </a:prstGeom>
          <a:ln w="0"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94F7A9A-FA4F-47C7-79A2-52572D6EA08F}"/>
              </a:ext>
            </a:extLst>
          </p:cNvPr>
          <p:cNvGrpSpPr/>
          <p:nvPr/>
        </p:nvGrpSpPr>
        <p:grpSpPr>
          <a:xfrm>
            <a:off x="9505415" y="1026801"/>
            <a:ext cx="1468726" cy="1353665"/>
            <a:chOff x="2776654" y="168002"/>
            <a:chExt cx="6809700" cy="6689998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6D6AABA-3FF3-2A94-AE22-5E46251D4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6654" y="168002"/>
              <a:ext cx="6809700" cy="6689998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C4B206A-B8D7-05D6-D403-F6C381980585}"/>
                </a:ext>
              </a:extLst>
            </p:cNvPr>
            <p:cNvSpPr/>
            <p:nvPr/>
          </p:nvSpPr>
          <p:spPr>
            <a:xfrm>
              <a:off x="9038844" y="6264375"/>
              <a:ext cx="376502" cy="42903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8779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74980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Abdominal Cold-Region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8C7D0"/>
                </a:solidFill>
              </a:rPr>
              <a:t>From Korean Medicine palpation expertise to objective thermal-imaging AI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</a:rPr>
              <a:t>Clinical signal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“Feeling of cold” during abdominal palpation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03320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D7FF"/>
                </a:solidFill>
              </a:rPr>
              <a:t>Imaging proxy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13632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FIR thermal image of abdominal region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8272" y="2788920"/>
            <a:ext cx="2788920" cy="1115568"/>
          </a:xfrm>
          <a:prstGeom prst="roundRect">
            <a:avLst>
              <a:gd name="adj" fmla="val 11475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2971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E582"/>
                </a:solidFill>
              </a:rPr>
              <a:t>AI target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58584" y="33192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8FA"/>
                </a:solidFill>
              </a:rPr>
              <a:t>Pixel-level cold-region mask reproducible across subjects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502152" y="3346704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47104" y="3346704"/>
            <a:ext cx="15544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1792" y="6016752"/>
            <a:ext cx="10149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Draft deck: problem, motivation, literature, and dataset audit plan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01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6283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target is not simply “dark pixels”; it is a clinically meaningful cold pattern.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429000" cy="4389120"/>
          </a:xfrm>
          <a:prstGeom prst="roundRect">
            <a:avLst>
              <a:gd name="adj" fmla="val 3733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64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DD7FF"/>
                </a:solidFill>
              </a:rPr>
              <a:t>Input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3000" y="2148840"/>
            <a:ext cx="2240280" cy="2057400"/>
          </a:xfrm>
          <a:prstGeom prst="rect">
            <a:avLst/>
          </a:prstGeom>
          <a:solidFill>
            <a:srgbClr val="2B3B45"/>
          </a:solidFill>
          <a:ln w="12700">
            <a:solidFill>
              <a:srgbClr val="4156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2487168"/>
            <a:ext cx="1508760" cy="1280160"/>
          </a:xfrm>
          <a:prstGeom prst="arc">
            <a:avLst/>
          </a:prstGeom>
          <a:noFill/>
          <a:ln w="12700">
            <a:solidFill>
              <a:srgbClr val="FFB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617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A"/>
                </a:solidFill>
              </a:rPr>
              <a:t>FIR thermal abdomen image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92040" y="2304288"/>
            <a:ext cx="1920240" cy="1627632"/>
          </a:xfrm>
          <a:prstGeom prst="hexagon">
            <a:avLst/>
          </a:prstGeom>
          <a:solidFill>
            <a:srgbClr val="20323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6791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8FA"/>
                </a:solidFill>
              </a:rPr>
              <a:t>Clinical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8FA"/>
                </a:solidFill>
              </a:rPr>
              <a:t>interpretation gap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24528" y="3063240"/>
            <a:ext cx="512064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1417320"/>
            <a:ext cx="3429000" cy="4389120"/>
          </a:xfrm>
          <a:prstGeom prst="roundRect">
            <a:avLst>
              <a:gd name="adj" fmla="val 3733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664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E582"/>
                </a:solidFill>
              </a:rPr>
              <a:t>Output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75320" y="2148840"/>
            <a:ext cx="2240280" cy="2057400"/>
          </a:xfrm>
          <a:prstGeom prst="rect">
            <a:avLst/>
          </a:prstGeom>
          <a:solidFill>
            <a:srgbClr val="E6E6E6"/>
          </a:solidFill>
          <a:ln w="12700">
            <a:solidFill>
              <a:srgbClr val="BFC6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2578608"/>
            <a:ext cx="1143000" cy="658368"/>
          </a:xfrm>
          <a:prstGeom prst="ellipse">
            <a:avLst/>
          </a:prstGeom>
          <a:solidFill>
            <a:srgbClr val="FF5E5B">
              <a:alpha val="85000"/>
            </a:srgbClr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460857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4F8FA"/>
                </a:solidFill>
              </a:rPr>
              <a:t>Cold-region mask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4F8FA"/>
                </a:solidFill>
              </a:rPr>
              <a:t>matching KM doctor judgement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Core question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148840" y="598932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B8C7D0"/>
                </a:solidFill>
              </a:rPr>
              <a:t>Can thermal-image AI reproduce palpation-informed cold-region annotation in a leakage-free, subject-independent setting?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Why this problem matters clinically and technically.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316736" y="1691640"/>
            <a:ext cx="1207008" cy="12070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Standardize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980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Reduce practitioner-to-practitioner variability in cold-region judgement.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207008" cy="1207008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444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Quantify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67588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Turn a subjective palpation cue into a measurable thermal mask and area.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68896" y="1691640"/>
            <a:ext cx="1207008" cy="1207008"/>
          </a:xfrm>
          <a:prstGeom prst="ellipse">
            <a:avLst/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1052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Scale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60196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Enable repeatable screening using portable FIR cameras and AI inference.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94976" y="1691640"/>
            <a:ext cx="1207008" cy="1207008"/>
          </a:xfrm>
          <a:prstGeom prst="ellipse">
            <a:avLst/>
          </a:prstGeom>
          <a:solidFill>
            <a:srgbClr val="BBA7FF"/>
          </a:solidFill>
          <a:ln w="12700">
            <a:solidFill>
              <a:srgbClr val="BB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0" y="1929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1820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36608" y="32461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8FA"/>
                </a:solidFill>
              </a:rPr>
              <a:t>Validate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528048" y="373075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7D0"/>
                </a:solidFill>
              </a:rPr>
              <a:t>Create evidence-based links between KM diagnosis and image biomarkers.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5577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4D"/>
                </a:solidFill>
              </a:rPr>
              <a:t>Project impact target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5577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4F8FA"/>
                </a:solidFill>
              </a:rPr>
              <a:t>A non-contact, reproducible, AI-assisted cold-region assessment that supports KM doctors rather than replacing clinical decision-making.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Clinical meaning of “abdominal coldness”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In this project, coldness is a clinical judgement, not just a thermometer threshold.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DD7FF"/>
                </a:solidFill>
              </a:rPr>
              <a:t>Thermal image signal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surface temperature distribution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relative local temperature difference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spatial pattern within abdomen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105156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C7D0"/>
                </a:solidFill>
              </a:rPr>
              <a:t>What camera sees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84D"/>
                </a:solidFill>
              </a:rPr>
              <a:t>KM palpation signal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presence or absence of cold sensation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pressure response during palpation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flatness, distension, and body context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489204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C7D0"/>
                </a:solidFill>
              </a:rPr>
              <a:t>What doctors infer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66760" y="1417320"/>
            <a:ext cx="3108960" cy="4389120"/>
          </a:xfrm>
          <a:prstGeom prst="roundRect">
            <a:avLst>
              <a:gd name="adj" fmla="val 4118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E582"/>
                </a:solidFill>
              </a:rPr>
              <a:t>AI target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41080" y="2240280"/>
            <a:ext cx="2514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20" dirty="0">
                <a:solidFill>
                  <a:srgbClr val="F4F8FA"/>
                </a:solidFill>
              </a:rPr>
              <a:t>cold-region mask consistent with annotation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uncertainty where doctors disagree</a:t>
            </a:r>
            <a:endParaRPr lang="en-US" sz="1620" dirty="0"/>
          </a:p>
          <a:p>
            <a:r>
              <a:rPr lang="en-US" sz="1620" dirty="0">
                <a:solidFill>
                  <a:srgbClr val="F4F8FA"/>
                </a:solidFill>
              </a:rPr>
              <a:t>quantitative area and shape descriptors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641080" y="5047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8C7D0"/>
                </a:solidFill>
              </a:rPr>
              <a:t>What model should learn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13632" y="3355848"/>
            <a:ext cx="47548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54112" y="3355848"/>
            <a:ext cx="475488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656539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18A"/>
                </a:solidFill>
              </a:rPr>
              <a:t>KM abdominal cold-region segmentation • first presentation draft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Original project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Clinical annotation bridges thermal imaging and deep learning.</a:t>
            </a:r>
            <a:endParaRPr lang="en-US" sz="1350" dirty="0"/>
          </a:p>
        </p:txBody>
      </p:sp>
      <p:pic>
        <p:nvPicPr>
          <p:cNvPr id="6" name="Image 0" descr="/mnt/data/preview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446" y="1234440"/>
            <a:ext cx="8386348" cy="4681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9161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B8C7D0"/>
                </a:solidFill>
              </a:rPr>
              <a:t>Known from project notes: FIR thermal imaging, visual reference capture, KM palpation, manual cold-region drawing, and CNN-based segmentation target.</a:t>
            </a:r>
            <a:endParaRPr lang="en-US" sz="117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 I — Thermal imaging and cold/perfusion patterns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Medical thermal imaging supports surface-temperature pattern analysis, but interpretation needs context.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DD7FF"/>
                </a:solidFill>
              </a:rPr>
              <a:t>Hiesho / cold sensation CAD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86200" y="13898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F4F8FA"/>
                </a:solidFill>
              </a:rPr>
              <a:t>Thermographic images were feasible for discriminating Hiesho; CNN CAD achieved high classification accuracy.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7818120" y="13898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B8C7D0"/>
                </a:solidFill>
              </a:rPr>
              <a:t>Relevance: validates cold-sensation diagnosis from thermal images.</a:t>
            </a:r>
            <a:endParaRPr lang="en-US" sz="154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1078992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1693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Abdominal cutaneous thermography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86200" y="291693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F4F8FA"/>
                </a:solidFill>
              </a:rPr>
              <a:t>Cold spots may reflect low blood-flow regions and wound/perfusion risk in abdominal maps.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818120" y="291693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B8C7D0"/>
                </a:solidFill>
              </a:rPr>
              <a:t>Relevance: supports cold-region analysis as potential physiological biomarker.</a:t>
            </a:r>
            <a:endParaRPr lang="en-US" sz="1540" dirty="0"/>
          </a:p>
        </p:txBody>
      </p:sp>
      <p:sp>
        <p:nvSpPr>
          <p:cNvPr id="13" name="Shape 11"/>
          <p:cNvSpPr/>
          <p:nvPr/>
        </p:nvSpPr>
        <p:spPr>
          <a:xfrm>
            <a:off x="685800" y="3995928"/>
            <a:ext cx="1078992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439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7AE582"/>
                </a:solidFill>
              </a:rPr>
              <a:t>Lower-abdomen perfusion dynamics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86200" y="44439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F4F8FA"/>
                </a:solidFill>
              </a:rPr>
              <a:t>Dynamic thermography can map perfusion responses after mild cooling challenge.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7818120" y="444398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B8C7D0"/>
                </a:solidFill>
              </a:rPr>
              <a:t>Relevance: abdomen thermal patterns vary by physiology and acquisition protocol.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685800" y="6062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Takeaway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48840" y="6062472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Cold-region segmentation should be framed as clinical thermal-pattern learning, not absolute temperature thresholding.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 II — Limited-data medical segmentation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dataset size requires careful baselines and leakage-free evaluation.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3337560" cy="4343400"/>
          </a:xfrm>
          <a:prstGeom prst="roundRect">
            <a:avLst>
              <a:gd name="adj" fmla="val 3836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DD7FF"/>
                </a:solidFill>
              </a:rPr>
              <a:t>U-Net family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A"/>
                </a:solidFill>
              </a:rPr>
              <a:t>Designed for biomedical segmentation with strong augmentation and precise localization from limited annotations.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809744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8920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820"/>
                </a:solidFill>
              </a:rPr>
              <a:t>Baseline required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337560" cy="4343400"/>
          </a:xfrm>
          <a:prstGeom prst="roundRect">
            <a:avLst>
              <a:gd name="adj" fmla="val 3836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84D"/>
                </a:solidFill>
              </a:rPr>
              <a:t>nnU-Net principle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0872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A"/>
                </a:solidFill>
              </a:rPr>
              <a:t>Before complex models, use robust preprocessing, validation, augmentation, and postprocessing under the same protocol.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0872" y="4809744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48920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820"/>
                </a:solidFill>
              </a:rPr>
              <a:t>Protocol matters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11312" y="1417320"/>
            <a:ext cx="3337560" cy="4343400"/>
          </a:xfrm>
          <a:prstGeom prst="roundRect">
            <a:avLst>
              <a:gd name="adj" fmla="val 3836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E582"/>
                </a:solidFill>
              </a:rPr>
              <a:t>Transfer learning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67344" y="2240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8FA"/>
                </a:solidFill>
              </a:rPr>
              <a:t>Pretrained segmentation encoders may help boundaries, but thermal coldness is domain-specific and must be validated with LOSO.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67344" y="4809744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7AE582"/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58784" y="48920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820"/>
                </a:solidFill>
              </a:rPr>
              <a:t>LOSO comparison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6062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Takeaway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48840" y="6062472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A high-capacity model is not automatically better when the main risk is subject-level leakage and annotation variability.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 III — Multiple annotations and uncertainty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Multi-doctor annotation is a strength if it is modeled correctly.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E5B"/>
                </a:solidFill>
              </a:rPr>
              <a:t>Wrong usage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18836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Same image is repeated with separate hard masks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68680" y="2450592"/>
            <a:ext cx="914400" cy="411480"/>
          </a:xfrm>
          <a:prstGeom prst="rect">
            <a:avLst/>
          </a:prstGeom>
          <a:solidFill>
            <a:srgbClr val="24353F"/>
          </a:solidFill>
          <a:ln w="12700">
            <a:solidFill>
              <a:srgbClr val="3F56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7860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Image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2660904"/>
            <a:ext cx="502920" cy="0"/>
          </a:xfrm>
          <a:prstGeom prst="line">
            <a:avLst/>
          </a:prstGeom>
          <a:noFill/>
          <a:ln w="12700">
            <a:solidFill>
              <a:srgbClr val="FF5E5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78608" y="2450592"/>
            <a:ext cx="914400" cy="411480"/>
          </a:xfrm>
          <a:prstGeom prst="rect">
            <a:avLst/>
          </a:prstGeom>
          <a:solidFill>
            <a:srgbClr val="FF5E5B">
              <a:alpha val="80000"/>
            </a:srgbClr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578608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Mask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3044952"/>
            <a:ext cx="914400" cy="411480"/>
          </a:xfrm>
          <a:prstGeom prst="rect">
            <a:avLst/>
          </a:prstGeom>
          <a:solidFill>
            <a:srgbClr val="24353F"/>
          </a:solidFill>
          <a:ln w="12700">
            <a:solidFill>
              <a:srgbClr val="3F56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17296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Image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3255264"/>
            <a:ext cx="502920" cy="0"/>
          </a:xfrm>
          <a:prstGeom prst="line">
            <a:avLst/>
          </a:prstGeom>
          <a:noFill/>
          <a:ln w="12700">
            <a:solidFill>
              <a:srgbClr val="FF5E5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78608" y="3044952"/>
            <a:ext cx="914400" cy="411480"/>
          </a:xfrm>
          <a:prstGeom prst="rect">
            <a:avLst/>
          </a:prstGeom>
          <a:solidFill>
            <a:srgbClr val="FFB84D">
              <a:alpha val="80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172968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Mask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3639312"/>
            <a:ext cx="914400" cy="411480"/>
          </a:xfrm>
          <a:prstGeom prst="rect">
            <a:avLst/>
          </a:prstGeom>
          <a:solidFill>
            <a:srgbClr val="24353F"/>
          </a:solidFill>
          <a:ln w="12700">
            <a:solidFill>
              <a:srgbClr val="3F56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7673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Image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0240" y="3849624"/>
            <a:ext cx="502920" cy="0"/>
          </a:xfrm>
          <a:prstGeom prst="line">
            <a:avLst/>
          </a:prstGeom>
          <a:noFill/>
          <a:ln w="12700">
            <a:solidFill>
              <a:srgbClr val="FF5E5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78608" y="3639312"/>
            <a:ext cx="914400" cy="411480"/>
          </a:xfrm>
          <a:prstGeom prst="rect">
            <a:avLst/>
          </a:prstGeom>
          <a:solidFill>
            <a:srgbClr val="FF5E5B">
              <a:alpha val="80000"/>
            </a:srgbClr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3767328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Mask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8680" y="4233672"/>
            <a:ext cx="914400" cy="411480"/>
          </a:xfrm>
          <a:prstGeom prst="rect">
            <a:avLst/>
          </a:prstGeom>
          <a:solidFill>
            <a:srgbClr val="24353F"/>
          </a:solidFill>
          <a:ln w="12700">
            <a:solidFill>
              <a:srgbClr val="3F56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36168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Image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4443984"/>
            <a:ext cx="502920" cy="0"/>
          </a:xfrm>
          <a:prstGeom prst="line">
            <a:avLst/>
          </a:prstGeom>
          <a:noFill/>
          <a:ln w="12700">
            <a:solidFill>
              <a:srgbClr val="FF5E5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578608" y="4233672"/>
            <a:ext cx="914400" cy="411480"/>
          </a:xfrm>
          <a:prstGeom prst="rect">
            <a:avLst/>
          </a:prstGeom>
          <a:solidFill>
            <a:srgbClr val="FFB84D">
              <a:alpha val="80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4361688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F8FA"/>
                </a:solidFill>
              </a:rPr>
              <a:t>Mask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5074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E5B"/>
                </a:solidFill>
              </a:rPr>
              <a:t>Risk: contradictory supervision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069080" y="1325880"/>
            <a:ext cx="0" cy="457200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E582"/>
                </a:solidFill>
              </a:rPr>
              <a:t>Correct usage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617720" y="1883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Group all masks for one image into consensus and uncertainty</a:t>
            </a:r>
            <a:endParaRPr lang="en-US" sz="1520" dirty="0"/>
          </a:p>
        </p:txBody>
      </p:sp>
      <p:sp>
        <p:nvSpPr>
          <p:cNvPr id="32" name="Shape 30"/>
          <p:cNvSpPr/>
          <p:nvPr/>
        </p:nvSpPr>
        <p:spPr>
          <a:xfrm>
            <a:off x="4709160" y="2578608"/>
            <a:ext cx="914400" cy="502920"/>
          </a:xfrm>
          <a:prstGeom prst="rect">
            <a:avLst/>
          </a:prstGeom>
          <a:solidFill>
            <a:srgbClr val="24353F"/>
          </a:solidFill>
          <a:ln w="12700">
            <a:solidFill>
              <a:srgbClr val="3F56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276148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8FA"/>
                </a:solidFill>
              </a:rPr>
              <a:t>Image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06440" y="2816352"/>
            <a:ext cx="548640" cy="0"/>
          </a:xfrm>
          <a:prstGeom prst="line">
            <a:avLst/>
          </a:prstGeom>
          <a:noFill/>
          <a:ln w="12700">
            <a:solidFill>
              <a:srgbClr val="7AE58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19672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7AE582">
              <a:alpha val="86000"/>
            </a:srgbClr>
          </a:solidFill>
          <a:ln w="12700">
            <a:solidFill>
              <a:srgbClr val="7AE5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5786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0"/>
                </a:solidFill>
              </a:rPr>
              <a:t>Soft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1820"/>
                </a:solidFill>
              </a:rPr>
              <a:t>consensus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092440" y="2816352"/>
            <a:ext cx="457200" cy="0"/>
          </a:xfrm>
          <a:prstGeom prst="line">
            <a:avLst/>
          </a:prstGeom>
          <a:noFill/>
          <a:ln w="12700">
            <a:solidFill>
              <a:srgbClr val="7AE582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732520" y="2331720"/>
            <a:ext cx="1417320" cy="960120"/>
          </a:xfrm>
          <a:prstGeom prst="roundRect">
            <a:avLst>
              <a:gd name="adj" fmla="val 11429"/>
            </a:avLst>
          </a:prstGeom>
          <a:solidFill>
            <a:srgbClr val="BBA7FF">
              <a:alpha val="88000"/>
            </a:srgbClr>
          </a:solidFill>
          <a:ln w="12700">
            <a:solidFill>
              <a:srgbClr val="BBA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33104" y="25786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0"/>
                </a:solidFill>
              </a:rPr>
              <a:t>Uncertainty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1820"/>
                </a:solidFill>
              </a:rPr>
              <a:t>map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709160" y="411480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Example: 9 of 12 annotations mark a pixel as cold → target cold probability = 0.75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709160" y="507492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E582"/>
                </a:solidFill>
              </a:rPr>
              <a:t>Takeaway: disagreement should be represented, not erased.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Dataset: what we know so far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next task is a dataset audit, because current metadata is incomplete.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Patients / subjects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29000" y="14173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Reported: 7 subjects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305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Doctors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0" y="21305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Reported: 4 KM doctors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542032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437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Annotation repeats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29000" y="28437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Reported: 3 tries per doctor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255264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570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Images / masks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35570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Likely 12 annotations per patient/image — must verify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3968496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702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Image type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29000" y="4270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FIR thermal abdomen image, grayscale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681728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84D"/>
                </a:solidFill>
              </a:rPr>
              <a:t>Target label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429000" y="49834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4F8FA"/>
                </a:solidFill>
              </a:rPr>
              <a:t>Doctor-marked cold-region mask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22960" y="5394960"/>
            <a:ext cx="10515600" cy="0"/>
          </a:xfrm>
          <a:prstGeom prst="line">
            <a:avLst/>
          </a:prstGeom>
          <a:noFill/>
          <a:ln w="12700">
            <a:solidFill>
              <a:srgbClr val="3347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870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E5B"/>
                </a:solidFill>
              </a:rPr>
              <a:t>Current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587044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8C7D0"/>
                </a:solidFill>
              </a:rPr>
              <a:t>If the same image has 12 masks, treating them as 12 independent hard-label samples can create contradictory supervision.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audit: required before further modeling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We need to determine exactly what one training sample means.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389888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270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File inventory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Count FIR images, masks, naming patterns, dimensions, label values.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2871216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0083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Pairing verification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3236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Confirm image-mask alignment and whether masks map to identical image captures.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4352544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4897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Identity structure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4718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Extract patient, case, doctor, try, and capture/session identifiers.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1389888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5270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399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Duplicate image check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49440" y="17556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Detect identical or near-identical thermal images across annotations.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2871216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30083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880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Agreement analysis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49440" y="32369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Compute doctor/try variability, soft consensus, and uncertainty maps.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4352544"/>
            <a:ext cx="502920" cy="502920"/>
          </a:xfrm>
          <a:prstGeom prst="ellipse">
            <a:avLst/>
          </a:prstGeom>
          <a:solidFill>
            <a:srgbClr val="4DD7FF"/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44897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0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4361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QC flags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9440" y="47183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8C7D0"/>
                </a:solidFill>
              </a:rPr>
              <a:t>Find empty masks, abnormal labels, tiny/huge cold masks, body/cold mismatch.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85800" y="6016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Audit outputs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148840" y="6016752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CSV tables + visualization grids: file inventory, pairing check, duplicate check, label statistics, agreement maps, problem-case list.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focus: annotation variability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Multiple doctors and repeated annotations may encode clinical uncertainty.</a:t>
            </a:r>
            <a:endParaRPr lang="en-US" sz="1350" dirty="0"/>
          </a:p>
        </p:txBody>
      </p:sp>
      <p:pic>
        <p:nvPicPr>
          <p:cNvPr id="6" name="Image 0" descr="/mnt/data/preview2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5780"/>
            <a:ext cx="6949440" cy="3860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01000" y="1353312"/>
            <a:ext cx="3520440" cy="4754880"/>
          </a:xfrm>
          <a:prstGeom prst="roundRect">
            <a:avLst>
              <a:gd name="adj" fmla="val 3636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1664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84D"/>
                </a:solidFill>
              </a:rPr>
              <a:t>What to measure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02752" y="2212848"/>
            <a:ext cx="27889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1570" dirty="0">
                <a:solidFill>
                  <a:srgbClr val="F4F8FA"/>
                </a:solidFill>
              </a:rPr>
              <a:t>within-doctor repeat consistency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between-doctor agreement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common cold core vs uncertain boundary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whether annotations use same thermal image or repeated captures</a:t>
            </a:r>
            <a:endParaRPr lang="en-US" sz="1570" dirty="0"/>
          </a:p>
          <a:p>
            <a:r>
              <a:rPr lang="en-US" sz="1570" dirty="0">
                <a:solidFill>
                  <a:srgbClr val="F4F8FA"/>
                </a:solidFill>
              </a:rPr>
              <a:t>whether large disagreements follow patient/session pattern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8275320" y="5074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E582"/>
                </a:solidFill>
              </a:rPr>
              <a:t>Decision rule after audit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75320" y="5394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B8C7D0"/>
                </a:solidFill>
              </a:rPr>
              <a:t>If 12 masks belong to one image: build soft consensus and uncertainty; if they are separate captures: keep capture-level grouping.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gate: when to start experiments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The method should be selected only after the dataset structure is clear.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14356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5819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5087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Audit complete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Image-mask pairs, duplicates, labels, and subject/case/doctor/try IDs verified.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3500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4963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24231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Annotation mode chosen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4231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Single GT, soft 12-mask consensus, doctor-specific model, or uncertainty-aware training.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264408"/>
            <a:ext cx="1143000" cy="438912"/>
          </a:xfrm>
          <a:prstGeom prst="chevron">
            <a:avLst/>
          </a:prstGeom>
          <a:solidFill>
            <a:srgbClr val="4DD7FF">
              <a:alpha val="98000"/>
            </a:srgbClr>
          </a:solidFill>
          <a:ln w="12700">
            <a:solidFill>
              <a:srgbClr val="4D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4107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Evaluation protocol fixed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54880" y="33375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LOSO is mandatory: no subject overlap, threshold chosen only on validation subject.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868680" y="4178808"/>
            <a:ext cx="1143000" cy="438912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3251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4251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Baseline clean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Hierarchical body+cold baseline reruns reproducibly with all CSVs and failure tables.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868680" y="5093208"/>
            <a:ext cx="1143000" cy="438912"/>
          </a:xfrm>
          <a:prstGeom prst="chevron">
            <a:avLst/>
          </a:prstGeom>
          <a:solidFill>
            <a:srgbClr val="FFB84D">
              <a:alpha val="98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52395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1820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40280" y="5166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8FA"/>
                </a:solidFill>
              </a:rPr>
              <a:t>Advanced methods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0" y="5166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B8C7D0"/>
                </a:solidFill>
              </a:rPr>
              <a:t>Only then compare transfer learning, MedSAM-style priors, diffusion/GAN augmentation.</a:t>
            </a:r>
            <a:endParaRPr lang="en-US" sz="152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presentation boundary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Methods and results will be added after the dataset audit.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343400"/>
          </a:xfrm>
          <a:prstGeom prst="roundRect">
            <a:avLst>
              <a:gd name="adj" fmla="val 2947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AE582"/>
                </a:solidFill>
              </a:rPr>
              <a:t>This deck covers now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25196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50" dirty="0">
                <a:solidFill>
                  <a:srgbClr val="F4F8FA"/>
                </a:solidFill>
              </a:rPr>
              <a:t>Problem statement and visualization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Clinical motivation and expected value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Literature framing for thermal imaging, low-data segmentation, and multi-rater labels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Dataset audit questions and required outputs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19088" y="1417320"/>
            <a:ext cx="5074920" cy="4343400"/>
          </a:xfrm>
          <a:prstGeom prst="roundRect">
            <a:avLst>
              <a:gd name="adj" fmla="val 2947"/>
            </a:avLst>
          </a:prstGeom>
          <a:solidFill>
            <a:srgbClr val="15222B"/>
          </a:solidFill>
          <a:ln w="12700">
            <a:solidFill>
              <a:srgbClr val="2A3B4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737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B84D"/>
                </a:solidFill>
              </a:rPr>
              <a:t>To add later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39128" y="2331720"/>
            <a:ext cx="43434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50" dirty="0">
                <a:solidFill>
                  <a:srgbClr val="F4F8FA"/>
                </a:solidFill>
              </a:rPr>
              <a:t>Dataset audit findings with actual tables and visualization grids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Clean LOSO baseline design and metrics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Failure analysis subject-by-subject and image-by-image</a:t>
            </a:r>
            <a:endParaRPr lang="en-US" sz="1650" dirty="0"/>
          </a:p>
          <a:p>
            <a:r>
              <a:rPr lang="en-US" sz="1650" dirty="0">
                <a:solidFill>
                  <a:srgbClr val="F4F8FA"/>
                </a:solidFill>
              </a:rPr>
              <a:t>Controlled experiments: transfer learning, MedSAM/GenAI augmentation, uncertainty model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77240" y="60533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Core message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48840" y="6053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4F8FA"/>
                </a:solidFill>
              </a:rPr>
              <a:t>The project is promising, but the dataset must be understood before we can make a defensible modeling claim.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for this section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86868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C7D0"/>
                </a:solidFill>
              </a:rPr>
              <a:t>Short literature anchors used in the presentation draft.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1.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78992" y="135331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Wang et al. (2022). Convolutional neural network-based computer-aided diagnosis in Hiesho (cold sensation). Computer Methods and Programs in Biomedicine.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2.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0116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Childs et al. (2020). Abdominal Cutaneous Thermography and Perfusion Mapping after Caesarean Section: A Scoping Review. IJERPH.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13232" y="268833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3.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26700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Childs et al. (2023). Cutaneous Perfusion Dynamics of the Lower Abdomen in Healthy Volunteers. IJERPH.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13232" y="334670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4.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33284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Ronneberger et al. (2015). U-Net: Convolutional Networks for Biomedical Image Segmentation. MICCAI.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713232" y="40050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5.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398678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Silva &amp; Oliveira (2021). Using Soft Labels to Model Uncertainty in Medical Image Segmentation.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713232" y="466344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84D"/>
                </a:solidFill>
              </a:rPr>
              <a:t>6.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464515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4F8FA"/>
                </a:solidFill>
              </a:rPr>
              <a:t>Zhang et al. (2023). A Soft Label Method for Medical Image Segmentation / multi-rater soft-label modeling.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13232" y="598932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8C7D0"/>
                </a:solidFill>
              </a:rPr>
              <a:t>Project source note: user-provided PROJECT_EXPLANATION.md and project visual materials were used for the clinical workflow and dataset framing.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0818A"/>
                </a:solidFill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1427</Words>
  <Application>Microsoft Office PowerPoint</Application>
  <PresentationFormat>Widescreen</PresentationFormat>
  <Paragraphs>245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KopubWorld Dotum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 Abdominal Cold Region Segmentation</dc:title>
  <dc:subject>Abdominal thermal cold-region segmentation project</dc:subject>
  <dc:creator>OpenAI</dc:creator>
  <cp:lastModifiedBy>Rafsan Jany</cp:lastModifiedBy>
  <cp:revision>3</cp:revision>
  <dcterms:created xsi:type="dcterms:W3CDTF">2026-06-19T03:08:32Z</dcterms:created>
  <dcterms:modified xsi:type="dcterms:W3CDTF">2026-06-19T04:33:30Z</dcterms:modified>
</cp:coreProperties>
</file>
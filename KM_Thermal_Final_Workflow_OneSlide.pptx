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12700">
            <a:solidFill>
              <a:srgbClr val="F7F8F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C8A"/>
          </a:solidFill>
          <a:ln w="12700">
            <a:solidFill>
              <a:srgbClr val="1E6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74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dataset-aware workflow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56616" y="7132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data first → leakage-free LOSO → body-guided segmentation → controlled GenAI augmentation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2788920" cy="44805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FE7E9"/>
            </a:solidFill>
            <a:prstDash val="solid"/>
          </a:ln>
          <a:effectLst>
            <a:outerShdw sx="100000" sy="100000" kx="0" ky="0" algn="bl" rotWithShape="0" blurRad="25400" dist="50800" dir="2700000">
              <a:srgbClr val="C9D3D9">
                <a:alpha val="15000"/>
              </a:srgbClr>
            </a:outerShdw>
          </a:effectLst>
        </p:spPr>
      </p:sp>
      <p:pic>
        <p:nvPicPr>
          <p:cNvPr id="7" name="Image 0" descr="/mnt/data/extra_01_single_image_mask_overlay_S05_B_1.png">    </p:cNvPr>
          <p:cNvPicPr>
            <a:picLocks noChangeAspect="1"/>
          </p:cNvPicPr>
          <p:nvPr/>
        </p:nvPicPr>
        <p:blipFill>
          <a:blip r:embed="rId1"/>
          <a:srcRect l="28548" r="28548" t="0" b="0"/>
          <a:stretch/>
        </p:blipFill>
        <p:spPr>
          <a:xfrm>
            <a:off x="530352" y="1307592"/>
            <a:ext cx="242316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342900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audit lock-in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30352" y="3794760"/>
            <a:ext cx="235915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 sorted image–mask pairs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subjects, one mask per image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A/B/C/D + try from image name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alignment corrected before training</a:t>
            </a:r>
            <a:endParaRPr lang="en-US" sz="970" dirty="0"/>
          </a:p>
        </p:txBody>
      </p:sp>
      <p:sp>
        <p:nvSpPr>
          <p:cNvPr id="10" name="Text 7"/>
          <p:cNvSpPr/>
          <p:nvPr/>
        </p:nvSpPr>
        <p:spPr>
          <a:xfrm>
            <a:off x="530352" y="49834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85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test subject is never used by augmentation or GenAI.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3310128" y="3364992"/>
            <a:ext cx="347472" cy="0"/>
          </a:xfrm>
          <a:prstGeom prst="line">
            <a:avLst/>
          </a:prstGeom>
          <a:noFill/>
          <a:ln w="25400">
            <a:solidFill>
              <a:srgbClr val="8AA9B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449824" y="3364992"/>
            <a:ext cx="320040" cy="0"/>
          </a:xfrm>
          <a:prstGeom prst="line">
            <a:avLst/>
          </a:prstGeom>
          <a:noFill/>
          <a:ln w="25400">
            <a:solidFill>
              <a:srgbClr val="8AA9B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616952" y="3364992"/>
            <a:ext cx="320040" cy="0"/>
          </a:xfrm>
          <a:prstGeom prst="line">
            <a:avLst/>
          </a:prstGeom>
          <a:noFill/>
          <a:ln w="25400">
            <a:solidFill>
              <a:srgbClr val="8AA9B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820656" y="3364992"/>
            <a:ext cx="301752" cy="0"/>
          </a:xfrm>
          <a:prstGeom prst="line">
            <a:avLst/>
          </a:prstGeom>
          <a:noFill/>
          <a:ln w="25400">
            <a:solidFill>
              <a:srgbClr val="8AA9B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657600" y="1325880"/>
            <a:ext cx="1792224" cy="405079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3970">
            <a:solidFill>
              <a:srgbClr val="1E6C8A"/>
            </a:solidFill>
            <a:prstDash val="solid"/>
          </a:ln>
          <a:effectLst>
            <a:outerShdw sx="100000" sy="100000" kx="0" ky="0" algn="bl" rotWithShape="0" blurRad="25400" dist="50800" dir="2700000">
              <a:srgbClr val="CED7DB">
                <a:alpha val="11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13048" y="1490472"/>
            <a:ext cx="310896" cy="310896"/>
          </a:xfrm>
          <a:prstGeom prst="ellipse">
            <a:avLst/>
          </a:prstGeom>
          <a:solidFill>
            <a:srgbClr val="1E6C8A"/>
          </a:solidFill>
          <a:ln w="12700">
            <a:solidFill>
              <a:srgbClr val="1E6C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13048" y="154990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187952" y="1472184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3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prep</a:t>
            </a:r>
            <a:endParaRPr lang="en-US" sz="1330" dirty="0"/>
          </a:p>
        </p:txBody>
      </p:sp>
      <p:sp>
        <p:nvSpPr>
          <p:cNvPr id="19" name="Text 16"/>
          <p:cNvSpPr/>
          <p:nvPr/>
        </p:nvSpPr>
        <p:spPr>
          <a:xfrm>
            <a:off x="4187952" y="184708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trustworthy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3895344" y="2194560"/>
            <a:ext cx="1380744" cy="3026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sorted pairing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parse subject/group/try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crop/align masks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body=(2 or 3)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cold=3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flag outliers</a:t>
            </a:r>
            <a:endParaRPr lang="en-US" sz="910" dirty="0"/>
          </a:p>
        </p:txBody>
      </p:sp>
      <p:sp>
        <p:nvSpPr>
          <p:cNvPr id="21" name="Shape 18"/>
          <p:cNvSpPr/>
          <p:nvPr/>
        </p:nvSpPr>
        <p:spPr>
          <a:xfrm>
            <a:off x="5760720" y="1325880"/>
            <a:ext cx="1856232" cy="4050792"/>
          </a:xfrm>
          <a:prstGeom prst="roundRect">
            <a:avLst>
              <a:gd name="adj" fmla="val 5911"/>
            </a:avLst>
          </a:prstGeom>
          <a:solidFill>
            <a:srgbClr val="EAF7F6"/>
          </a:solidFill>
          <a:ln w="13970">
            <a:solidFill>
              <a:srgbClr val="35A1A0"/>
            </a:solidFill>
            <a:prstDash val="solid"/>
          </a:ln>
          <a:effectLst>
            <a:outerShdw sx="100000" sy="100000" kx="0" ky="0" algn="bl" rotWithShape="0" blurRad="25400" dist="50800" dir="2700000">
              <a:srgbClr val="CED7DB">
                <a:alpha val="11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16168" y="1490472"/>
            <a:ext cx="310896" cy="310896"/>
          </a:xfrm>
          <a:prstGeom prst="ellipse">
            <a:avLst/>
          </a:prstGeom>
          <a:solidFill>
            <a:srgbClr val="35A1A0"/>
          </a:solidFill>
          <a:ln w="12700">
            <a:solidFill>
              <a:srgbClr val="35A1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16168" y="154990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91072" y="1472184"/>
            <a:ext cx="1197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3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LOSO model</a:t>
            </a:r>
            <a:endParaRPr lang="en-US" sz="1330" dirty="0"/>
          </a:p>
        </p:txBody>
      </p:sp>
      <p:sp>
        <p:nvSpPr>
          <p:cNvPr id="25" name="Text 22"/>
          <p:cNvSpPr/>
          <p:nvPr/>
        </p:nvSpPr>
        <p:spPr>
          <a:xfrm>
            <a:off x="6291072" y="1847088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mandatory validation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5998464" y="2194560"/>
            <a:ext cx="1444752" cy="3026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leave-one-subject-out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 subject tunes threshold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 thermal channels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body-guided cold head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area + boundary loss</a:t>
            </a:r>
            <a:endParaRPr lang="en-US" sz="910" dirty="0"/>
          </a:p>
        </p:txBody>
      </p:sp>
      <p:sp>
        <p:nvSpPr>
          <p:cNvPr id="27" name="Shape 24"/>
          <p:cNvSpPr/>
          <p:nvPr/>
        </p:nvSpPr>
        <p:spPr>
          <a:xfrm>
            <a:off x="7936992" y="1325880"/>
            <a:ext cx="1883664" cy="4050792"/>
          </a:xfrm>
          <a:prstGeom prst="roundRect">
            <a:avLst>
              <a:gd name="adj" fmla="val 5825"/>
            </a:avLst>
          </a:prstGeom>
          <a:solidFill>
            <a:srgbClr val="FFF4DE"/>
          </a:solidFill>
          <a:ln w="13970">
            <a:solidFill>
              <a:srgbClr val="E9A847"/>
            </a:solidFill>
            <a:prstDash val="solid"/>
          </a:ln>
          <a:effectLst>
            <a:outerShdw sx="100000" sy="100000" kx="0" ky="0" algn="bl" rotWithShape="0" blurRad="25400" dist="50800" dir="2700000">
              <a:srgbClr val="CED7DB">
                <a:alpha val="11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092440" y="1490472"/>
            <a:ext cx="310896" cy="310896"/>
          </a:xfrm>
          <a:prstGeom prst="ellipse">
            <a:avLst/>
          </a:prstGeom>
          <a:solidFill>
            <a:srgbClr val="E9A847"/>
          </a:solidFill>
          <a:ln w="12700">
            <a:solidFill>
              <a:srgbClr val="E9A84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92440" y="154990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467344" y="1472184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3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GenAI module</a:t>
            </a:r>
            <a:endParaRPr lang="en-US" sz="1330" dirty="0"/>
          </a:p>
        </p:txBody>
      </p:sp>
      <p:sp>
        <p:nvSpPr>
          <p:cNvPr id="31" name="Text 28"/>
          <p:cNvSpPr/>
          <p:nvPr/>
        </p:nvSpPr>
        <p:spPr>
          <a:xfrm>
            <a:off x="8467344" y="184708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subjects only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8174736" y="2194560"/>
            <a:ext cx="1472184" cy="3026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mask-preserving synthesis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thermal inpainting/diffusion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invented labels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QC artifacts + cold/body ratio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ablation: no-GenAI vs GenAI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0122408" y="1325880"/>
            <a:ext cx="1764792" cy="4050792"/>
          </a:xfrm>
          <a:prstGeom prst="roundRect">
            <a:avLst>
              <a:gd name="adj" fmla="val 6218"/>
            </a:avLst>
          </a:prstGeom>
          <a:solidFill>
            <a:srgbClr val="FDECEC"/>
          </a:solidFill>
          <a:ln w="13970">
            <a:solidFill>
              <a:srgbClr val="E85D5C"/>
            </a:solidFill>
            <a:prstDash val="solid"/>
          </a:ln>
          <a:effectLst>
            <a:outerShdw sx="100000" sy="100000" kx="0" ky="0" algn="bl" rotWithShape="0" blurRad="25400" dist="50800" dir="2700000">
              <a:srgbClr val="CED7DB">
                <a:alpha val="11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277856" y="1490472"/>
            <a:ext cx="310896" cy="310896"/>
          </a:xfrm>
          <a:prstGeom prst="ellipse">
            <a:avLst/>
          </a:prstGeom>
          <a:solidFill>
            <a:srgbClr val="E85D5C"/>
          </a:solidFill>
          <a:ln w="12700">
            <a:solidFill>
              <a:srgbClr val="E85D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277856" y="154990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652760" y="1472184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3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evidence</a:t>
            </a:r>
            <a:endParaRPr lang="en-US" sz="1330" dirty="0"/>
          </a:p>
        </p:txBody>
      </p:sp>
      <p:sp>
        <p:nvSpPr>
          <p:cNvPr id="37" name="Text 34"/>
          <p:cNvSpPr/>
          <p:nvPr/>
        </p:nvSpPr>
        <p:spPr>
          <a:xfrm>
            <a:off x="10652760" y="1847088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820" dirty="0"/>
          </a:p>
        </p:txBody>
      </p:sp>
      <p:sp>
        <p:nvSpPr>
          <p:cNvPr id="38" name="Text 35"/>
          <p:cNvSpPr/>
          <p:nvPr/>
        </p:nvSpPr>
        <p:spPr>
          <a:xfrm>
            <a:off x="10360152" y="2194560"/>
            <a:ext cx="1353312" cy="3026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mean ± std LOSO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per-subject table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case failure audit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ablation stack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slide-ready visuals</a:t>
            </a:r>
            <a:endParaRPr lang="en-US" sz="910" dirty="0"/>
          </a:p>
        </p:txBody>
      </p:sp>
      <p:sp>
        <p:nvSpPr>
          <p:cNvPr id="39" name="Shape 36"/>
          <p:cNvSpPr/>
          <p:nvPr/>
        </p:nvSpPr>
        <p:spPr>
          <a:xfrm>
            <a:off x="3547872" y="5742432"/>
            <a:ext cx="8275320" cy="530352"/>
          </a:xfrm>
          <a:prstGeom prst="roundRect">
            <a:avLst>
              <a:gd name="adj" fmla="val 13793"/>
            </a:avLst>
          </a:prstGeom>
          <a:solidFill>
            <a:srgbClr val="EEF5F4"/>
          </a:solidFill>
          <a:ln w="10160">
            <a:solidFill>
              <a:srgbClr val="CDE3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767328" y="58704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A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Finalized principle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093208" y="5843016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3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is controlled, mask-preserving thermal augmentation after audit + LOSO are fixed.</a:t>
            </a:r>
            <a:endParaRPr lang="en-US" sz="1040" dirty="0"/>
          </a:p>
        </p:txBody>
      </p:sp>
      <p:sp>
        <p:nvSpPr>
          <p:cNvPr id="42" name="Text 39"/>
          <p:cNvSpPr/>
          <p:nvPr/>
        </p:nvSpPr>
        <p:spPr>
          <a:xfrm>
            <a:off x="347472" y="64739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 thermal cold-region segmentation workflow  •  dataset-aware design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Dataset-Aware Workflow</dc:title>
  <dc:subject>PptxGenJS Presentation</dc:subject>
  <dc:creator>OpenAI</dc:creator>
  <cp:lastModifiedBy>OpenAI</cp:lastModifiedBy>
  <cp:revision>1</cp:revision>
  <dcterms:created xsi:type="dcterms:W3CDTF">2026-06-19T07:23:21Z</dcterms:created>
  <dcterms:modified xsi:type="dcterms:W3CDTF">2026-06-19T07:23:21Z</dcterms:modified>
</cp:coreProperties>
</file>
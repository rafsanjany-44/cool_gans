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1.webp" ContentType="image/webp"/>
  <Override PartName="/ppt/media/image-5-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4980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Abdominal Cold-Region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8C7D0"/>
                </a:solidFill>
              </a:rPr>
              <a:t>From Korean Medicine palpation expertise to objective thermal-imaging AI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4D"/>
                </a:solidFill>
              </a:rPr>
              <a:t>Clinical signal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8FA"/>
                </a:solidFill>
              </a:rPr>
              <a:t>“Feeling of cold” during abdominal palpation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03320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D7FF"/>
                </a:solidFill>
              </a:rPr>
              <a:t>Imaging proxy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13632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8FA"/>
                </a:solidFill>
              </a:rPr>
              <a:t>FIR thermal image of abdominal region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8272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E582"/>
                </a:solidFill>
              </a:rPr>
              <a:t>AI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8584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8FA"/>
                </a:solidFill>
              </a:rPr>
              <a:t>Pixel-level cold-region mask reproducible across subjects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02152" y="3346704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47104" y="3346704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1792" y="601675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Draft deck: problem, motivation, literature, and dataset audit plan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The target is not simply “dark pixels”; it is a clinically meaningful cold pattern.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429000" cy="4389120"/>
          </a:xfrm>
          <a:prstGeom prst="roundRect">
            <a:avLst>
              <a:gd name="adj" fmla="val 3733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D7FF"/>
                </a:solidFill>
              </a:rPr>
              <a:t>Input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3000" y="2148840"/>
            <a:ext cx="2240280" cy="2057400"/>
          </a:xfrm>
          <a:prstGeom prst="rect">
            <a:avLst/>
          </a:prstGeom>
          <a:solidFill>
            <a:srgbClr val="2B3B45"/>
          </a:solidFill>
          <a:ln w="12700">
            <a:solidFill>
              <a:srgbClr val="4156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487168"/>
            <a:ext cx="1508760" cy="1280160"/>
          </a:xfrm>
          <a:prstGeom prst="arc">
            <a:avLst/>
          </a:prstGeom>
          <a:noFill/>
          <a:ln w="12700">
            <a:solidFill>
              <a:srgbClr val="FFB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617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A"/>
                </a:solidFill>
              </a:rPr>
              <a:t>FIR thermal abdomen image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2304288"/>
            <a:ext cx="1920240" cy="1627632"/>
          </a:xfrm>
          <a:prstGeom prst="hexagon">
            <a:avLst/>
          </a:prstGeom>
          <a:solidFill>
            <a:srgbClr val="20323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A"/>
                </a:solidFill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F8FA"/>
                </a:solidFill>
              </a:rPr>
              <a:t>interpretation gap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24528" y="3063240"/>
            <a:ext cx="512064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1417320"/>
            <a:ext cx="3429000" cy="4389120"/>
          </a:xfrm>
          <a:prstGeom prst="roundRect">
            <a:avLst>
              <a:gd name="adj" fmla="val 3733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664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E582"/>
                </a:solidFill>
              </a:rPr>
              <a:t>Output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75320" y="2148840"/>
            <a:ext cx="2240280" cy="2057400"/>
          </a:xfrm>
          <a:prstGeom prst="rect">
            <a:avLst/>
          </a:prstGeom>
          <a:solidFill>
            <a:srgbClr val="E6E6E6"/>
          </a:solidFill>
          <a:ln w="12700">
            <a:solidFill>
              <a:srgbClr val="BFC6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2578608"/>
            <a:ext cx="1143000" cy="658368"/>
          </a:xfrm>
          <a:prstGeom prst="ellipse">
            <a:avLst/>
          </a:prstGeom>
          <a:solidFill>
            <a:srgbClr val="FF5E5B">
              <a:alpha val="85000"/>
            </a:srgbClr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4608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A"/>
                </a:solidFill>
              </a:rPr>
              <a:t>Cold-region mask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A"/>
                </a:solidFill>
              </a:rPr>
              <a:t>matching KM doctor judgement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84D"/>
                </a:solidFill>
              </a:rPr>
              <a:t>Core question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48840" y="598932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B8C7D0"/>
                </a:solidFill>
              </a:rPr>
              <a:t>Can thermal-image AI reproduce palpation-informed cold-region annotation in a leakage-free, subject-independent setting?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Why this problem matters clinically and technically.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16736" y="1691640"/>
            <a:ext cx="1207008" cy="12070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A"/>
                </a:solidFill>
              </a:rPr>
              <a:t>Standardize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980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D0"/>
                </a:solidFill>
              </a:rPr>
              <a:t>Reduce practitioner-to-practitioner variability in cold-region judgement.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207008" cy="1207008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444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A"/>
                </a:solidFill>
              </a:rPr>
              <a:t>Quantify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7588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D0"/>
                </a:solidFill>
              </a:rPr>
              <a:t>Turn a subjective palpation cue into a measurable thermal mask and area.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68896" y="1691640"/>
            <a:ext cx="1207008" cy="1207008"/>
          </a:xfrm>
          <a:prstGeom prst="ellipse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1052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A"/>
                </a:solidFill>
              </a:rPr>
              <a:t>Scale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0196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D0"/>
                </a:solidFill>
              </a:rPr>
              <a:t>Enable repeatable screening using portable FIR cameras and AI inference.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94976" y="1691640"/>
            <a:ext cx="1207008" cy="1207008"/>
          </a:xfrm>
          <a:prstGeom prst="ellipse">
            <a:avLst/>
          </a:prstGeom>
          <a:solidFill>
            <a:srgbClr val="BBA7FF"/>
          </a:solidFill>
          <a:ln w="12700">
            <a:solidFill>
              <a:srgbClr val="BB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3660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A"/>
                </a:solidFill>
              </a:rPr>
              <a:t>Validate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804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D0"/>
                </a:solidFill>
              </a:rPr>
              <a:t>Create evidence-based links between KM diagnosis and image biomarkers.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4D"/>
                </a:solidFill>
              </a:rPr>
              <a:t>Project impact target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5577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8FA"/>
                </a:solidFill>
              </a:rPr>
              <a:t>A non-contact, reproducible, AI-assisted cold-region assessment that supports KM doctors rather than replacing clinical decision-making.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meaning of “abdominal coldness”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In this project, coldness is a clinical judgement, not just a thermometer threshold.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D7FF"/>
                </a:solidFill>
              </a:rPr>
              <a:t>Thermal image signal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surface temperature distribution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relative local temperature difference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spatial pattern within abdomen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105156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7D0"/>
                </a:solidFill>
              </a:rPr>
              <a:t>What camera sees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84D"/>
                </a:solidFill>
              </a:rPr>
              <a:t>KM palpation signal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presence or absence of cold sensation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pressure response during palpation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flatness, distension, and body context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489204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7D0"/>
                </a:solidFill>
              </a:rPr>
              <a:t>What doctors infer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E582"/>
                </a:solidFill>
              </a:rPr>
              <a:t>AI target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4108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cold-region mask consistent with annotation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uncertainty where doctors disagree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quantitative area and shape descriptors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64108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7D0"/>
                </a:solidFill>
              </a:rPr>
              <a:t>What model should learn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13632" y="3355848"/>
            <a:ext cx="47548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54112" y="3355848"/>
            <a:ext cx="47548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Original project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Clinical annotation bridges thermal imaging and deep learning.</a:t>
            </a:r>
            <a:endParaRPr lang="en-US" sz="1350" dirty="0"/>
          </a:p>
        </p:txBody>
      </p:sp>
      <p:pic>
        <p:nvPicPr>
          <p:cNvPr id="6" name="Image 0" descr="/mnt/data/preview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446" y="1234440"/>
            <a:ext cx="8386348" cy="4681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9161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B8C7D0"/>
                </a:solidFill>
              </a:rPr>
              <a:t>Known from project notes: FIR thermal imaging, visual reference capture, KM palpation, manual cold-region drawing, and CNN-based segmentation target.</a:t>
            </a:r>
            <a:endParaRPr lang="en-US" sz="1170" dirty="0"/>
          </a:p>
        </p:txBody>
      </p:sp>
      <p:sp>
        <p:nvSpPr>
          <p:cNvPr id="8" name="Text 5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80">
                <a:solidFill>
                  <a:srgbClr val="738791"/>
                </a:solidFill>
              </a:rPr>
              <a:t>KM abdominal cold-region segmentation • literature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EEF4F8"/>
                </a:solidFill>
              </a:rPr>
              <a:t>Literature review I — Thermal imaging and cold/perfusion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1115568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819">
                <a:solidFill>
                  <a:srgbClr val="AEBEC6"/>
                </a:solidFill>
              </a:rPr>
              <a:t>Paper titles and tiny bibliography anchors for the medical meaning of cold-region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5331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59DCF5"/>
                </a:solidFill>
              </a:rPr>
              <a:t>Cold sensation CAD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3619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“Convolutional neural network-based computer-aided diagnosis in Hiesho (cold sensation)”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47672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Wang T. et al., Computers in Biology and Medicine, 145:105411, 2022. DOI:10.1016/j.compbiomed.2022.105411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95144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thermographic patterns can support cold-sensation diagnosis, but the paper is classification/CAD rather than pixel segmentation.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74EB8F"/>
                </a:solidFill>
              </a:rPr>
              <a:t>Abdominal thermography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53619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“Abdominal Cutaneous Thermography and Perfusion Mapping after Caesarean Section: A Scoping Review”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47672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Childs C. &amp; Soltani H., IJERPH, 17(22):8693, 2020. DOI:10.3390/ijerph17228693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95144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abdominal thermal maps are physiologically connected to perfusion/wound-risk interpretation, not simple brightness thresholding.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99923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B296FF"/>
                </a:solidFill>
              </a:rPr>
              <a:t>Lower-abdomen perfusion dynamics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18211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“Cutaneous Perfusion Dynamics of the Lower Abdomen in Healthy Normal Weight, Overweight and Obese Women”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593591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Childs C. et al., IJERPH, 20(6):5100, 2023.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41063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lower-abdomen thermal response varies by subject physiology, supporting our need for subject-wise validation.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8036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99923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FFB74D"/>
                </a:solidFill>
              </a:rPr>
              <a:t>KM Cold–Heat biomarker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18211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“Clinical Utility of Abdominal-Peripheral Temperature Difference Measured via Infrared Thermography as an Objective Biomarker for Cold-Heat Pattern Identification”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3593591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Kim S. et al., Korean Journal of Acupuncture, 42(3):163–172, 2025. DOI:10.14406/acu.2025.010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941063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supports abdominal/peripheral IRT temperature differences as objective KM-pattern biomarkers.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989320"/>
            <a:ext cx="11292840" cy="438912"/>
          </a:xfrm>
          <a:prstGeom prst="roundRect">
            <a:avLst/>
          </a:prstGeom>
          <a:solidFill>
            <a:srgbClr val="121F25"/>
          </a:solidFill>
          <a:ln w="6350">
            <a:solidFill>
              <a:srgbClr val="37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080759"/>
            <a:ext cx="10927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0" b="1">
                <a:solidFill>
                  <a:srgbClr val="FFB74D"/>
                </a:solidFill>
              </a:rPr>
              <a:t>Takeaway: </a:t>
            </a:r>
            <a:r>
              <a:rPr sz="830">
                <a:solidFill>
                  <a:srgbClr val="EEF4F8"/>
                </a:solidFill>
              </a:rPr>
              <a:t>Use thermal literature to justify the clinical target: cold region = interpreted thermal/perfusion pattern, not merely low pixel intensity.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80">
                <a:solidFill>
                  <a:srgbClr val="738791"/>
                </a:solidFill>
              </a:rPr>
              <a:t>KM abdominal cold-region segmentation • literature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EEF4F8"/>
                </a:solidFill>
              </a:rPr>
              <a:t>Literature review II — Low-data medical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1115568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819">
                <a:solidFill>
                  <a:srgbClr val="AEBEC6"/>
                </a:solidFill>
              </a:rPr>
              <a:t>Paper titles and tiny bibliography anchors for building a careful baseline before GenAI.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5331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59DCF5"/>
                </a:solidFill>
              </a:rPr>
              <a:t>Classic low-data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3619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“U-Net: Convolutional Networks for Biomedical Image Segmentation”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47672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Ronneberger O., Fischer P., Brox T., MICCAI / LNCS 9351:234–241,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95144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U-Net was built for precise biomedical segmentation from few annotated images using augmentation and skip connections.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74EB8F"/>
                </a:solidFill>
              </a:rPr>
              <a:t>Strong baseline 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53619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“nnU-Net: a self-configuring method for deep learning-based biomedical image segmentation”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47672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Isensee F. et al., Nature Methods, 18(2):203–211, 2021.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95144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baseline strength depends on preprocessing, augmentation, validation and postprocessing—not architecture alone.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99923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B296FF"/>
                </a:solidFill>
              </a:rPr>
              <a:t>Few-shot / universal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18211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“UniverSeg: Universal Medical Image Segmentation”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593591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Butoi V.I. et al., ICCV, 2023.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41063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support-set segmentation motivates comparing pretrained/few-shot priors when task-specific masks are scarce.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8036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99923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FFB74D"/>
                </a:solidFill>
              </a:rPr>
              <a:t>GenAI for ultra-low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18211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“Generative AI enables medical image segmentation in ultra low-data regimes”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3593591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Zhang L. et al., Nature Communications, 2025. DOI:10.1038/s41467-025-61754-6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941063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GenAI augmentation is relevant only after a clean leakage-free baseline is established.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989320"/>
            <a:ext cx="11292840" cy="438912"/>
          </a:xfrm>
          <a:prstGeom prst="roundRect">
            <a:avLst/>
          </a:prstGeom>
          <a:solidFill>
            <a:srgbClr val="121F25"/>
          </a:solidFill>
          <a:ln w="6350">
            <a:solidFill>
              <a:srgbClr val="37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080759"/>
            <a:ext cx="10927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0" b="1">
                <a:solidFill>
                  <a:srgbClr val="FFB74D"/>
                </a:solidFill>
              </a:rPr>
              <a:t>Takeaway: </a:t>
            </a:r>
            <a:r>
              <a:rPr sz="830">
                <a:solidFill>
                  <a:srgbClr val="EEF4F8"/>
                </a:solidFill>
              </a:rPr>
              <a:t>For 7 subjects, the first claim must be a fair LOSO baseline; advanced models are meaningful only under the same leakage-free protocol.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80">
                <a:solidFill>
                  <a:srgbClr val="738791"/>
                </a:solidFill>
              </a:rPr>
              <a:t>KM abdominal cold-region segmentation • literature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EEF4F8"/>
                </a:solidFill>
              </a:rPr>
              <a:t>Literature review III — Multiple annotations and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1115568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819">
                <a:solidFill>
                  <a:srgbClr val="AEBEC6"/>
                </a:solidFill>
              </a:rPr>
              <a:t>Paper titles and tiny bibliography anchors for using doctor disagreement correctly.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5331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59DCF5"/>
                </a:solidFill>
              </a:rPr>
              <a:t>Soft consensus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3619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“Using Soft Labels to Model Uncertainty in Medical Image Segmentation”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47672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Silva J.L. &amp; Oliveira A.L., arXiv:2109.12622 / Brainlesion LNCS, 2021–2022.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95144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convert multiple annotations into probabilistic labels; uncertainty becomes supervision rather than label noise.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74EB8F"/>
                </a:solidFill>
              </a:rPr>
              <a:t>Annotator reliability + consensus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53619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“Learning from multiple annotators for medical image segmentation”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47672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Zhang L. et al., Pattern Recognition, 138:109400, 2023. DOI:10.1016/j.patcog.2023.109400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95144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models expert consensus and annotator reliability when multiple noisy masks exist for the same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99923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B296FF"/>
                </a:solidFill>
              </a:rPr>
              <a:t>Rater-aware prompting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18211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“Multi-rater Prompting for Ambiguous Medical Image Segmentation”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593591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Wang J. et al., IEEE BIBM, 2024 / arXiv:2404.07580.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41063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shows how rater identity and disagreement can be encoded without treating all hard masks as independent truth.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8036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999232"/>
            <a:ext cx="51114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1">
                <a:solidFill>
                  <a:srgbClr val="FFB74D"/>
                </a:solidFill>
              </a:rPr>
              <a:t>Ambiguity-aware semi-supervision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182112"/>
            <a:ext cx="511149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“Annotation Ambiguity Aware Semi-Supervised Medical Image Segmentation”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3593591"/>
            <a:ext cx="511149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0">
                <a:solidFill>
                  <a:srgbClr val="AEBEC6"/>
                </a:solidFill>
              </a:rPr>
              <a:t>Bib: Kumari S. &amp; Singh P., CVPR, 2025.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941063"/>
            <a:ext cx="511149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supports the idea that ambiguous expert labels can generate diverse plausible masks, especially in low-label regimes.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989320"/>
            <a:ext cx="11292840" cy="438912"/>
          </a:xfrm>
          <a:prstGeom prst="roundRect">
            <a:avLst/>
          </a:prstGeom>
          <a:solidFill>
            <a:srgbClr val="121F25"/>
          </a:solidFill>
          <a:ln w="6350">
            <a:solidFill>
              <a:srgbClr val="37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080759"/>
            <a:ext cx="10927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0" b="1">
                <a:solidFill>
                  <a:srgbClr val="FFB74D"/>
                </a:solidFill>
              </a:rPr>
              <a:t>Takeaway: </a:t>
            </a:r>
            <a:r>
              <a:rPr sz="830">
                <a:solidFill>
                  <a:srgbClr val="EEF4F8"/>
                </a:solidFill>
              </a:rPr>
              <a:t>If 12 annotations exist for one FIR image, group them into a soft consensus and uncertainty map instead of training 12 contradictory hard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what we know so far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The next task is a dataset audit, because current metadata is incomplete.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Patients / subjects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29000" y="14173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</a:rPr>
              <a:t>Reported: 7 subjects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305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Doctors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0" y="21305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</a:rPr>
              <a:t>Reported: 4 KM doctors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542032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437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Annotation repeats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29000" y="28437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</a:rPr>
              <a:t>Reported: 3 tries per doctor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255264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57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Images / masks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35570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</a:rPr>
              <a:t>Likely 12 annotations per patient/image — must verify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70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Image type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9000" y="4270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</a:rPr>
              <a:t>FIR thermal abdomen image, grayscale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681728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Target label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429000" y="49834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</a:rPr>
              <a:t>Doctor-marked cold-region mask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22960" y="5394960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870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5B"/>
                </a:solidFill>
              </a:rPr>
              <a:t>Current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587044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B8C7D0"/>
                </a:solidFill>
              </a:rPr>
              <a:t>If the same image has 12 masks, treating them as 12 independent hard-label samples can create contradictory supervision.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audit: required before further modeling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We need to determine exactly what one training sample means.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270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File inventory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0"/>
                </a:solidFill>
              </a:rPr>
              <a:t>Count FIR images, masks, naming patterns, dimensions, label values.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2871216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0083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Pairing verification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3236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0"/>
                </a:solidFill>
              </a:rPr>
              <a:t>Confirm image-mask alignment and whether masks map to identical image captures.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4352544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4897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0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Identity structure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4718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0"/>
                </a:solidFill>
              </a:rPr>
              <a:t>Extract patient, case, doctor, try, and capture/session identifiers.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1389888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5270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0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Duplicate image check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49440" y="1755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0"/>
                </a:solidFill>
              </a:rPr>
              <a:t>Detect identical or near-identical thermal images across annotations.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2871216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0083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0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Agreement analysis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49440" y="3236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0"/>
                </a:solidFill>
              </a:rPr>
              <a:t>Compute doctor/try variability, soft consensus, and uncertainty maps.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4352544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4897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0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QC flags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9440" y="4718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0"/>
                </a:solidFill>
              </a:rPr>
              <a:t>Find empty masks, abnormal labels, tiny/huge cold masks, body/cold mismatch.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5800" y="6016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84D"/>
                </a:solidFill>
              </a:rPr>
              <a:t>Audit outputs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148840" y="6016752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4F8FA"/>
                </a:solidFill>
              </a:rPr>
              <a:t>CSV tables + visualization grids: file inventory, pairing check, duplicate check, label statistics, agreement maps, problem-case list.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focus: annotation variability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Multiple doctors and repeated annotations may encode clinical uncertainty.</a:t>
            </a:r>
            <a:endParaRPr lang="en-US" sz="1350" dirty="0"/>
          </a:p>
        </p:txBody>
      </p:sp>
      <p:pic>
        <p:nvPicPr>
          <p:cNvPr id="6" name="Image 0" descr="/mnt/data/preview2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5780"/>
            <a:ext cx="6949440" cy="3860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353312"/>
            <a:ext cx="3520440" cy="4754880"/>
          </a:xfrm>
          <a:prstGeom prst="roundRect">
            <a:avLst>
              <a:gd name="adj" fmla="val 3636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664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84D"/>
                </a:solidFill>
              </a:rPr>
              <a:t>What to measure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02752" y="2212848"/>
            <a:ext cx="27889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70" dirty="0">
                <a:solidFill>
                  <a:srgbClr val="F4F8FA"/>
                </a:solidFill>
              </a:rPr>
              <a:t>within-doctor repeat consistency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between-doctor agreement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common cold core vs uncertain boundary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whether annotations use same thermal image or repeated captures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whether large disagreements follow patient/session pattern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275320" y="5074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E582"/>
                </a:solidFill>
              </a:rPr>
              <a:t>Decision rule after audit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75320" y="5394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B8C7D0"/>
                </a:solidFill>
              </a:rPr>
              <a:t>If 12 masks belong to one image: build soft consensus and uncertainty; if they are separate captures: keep capture-level grouping.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gate: when to start experiments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The method should be selected only after the dataset structure is clear.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14356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5819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Audit complete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8C7D0"/>
                </a:solidFill>
              </a:rPr>
              <a:t>Image-mask pairs, duplicates, labels, and subject/case/doctor/try IDs verified.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3500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4963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Annotation mode chosen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8C7D0"/>
                </a:solidFill>
              </a:rPr>
              <a:t>Single GT, soft 12-mask consensus, doctor-specific model, or uncertainty-aware training.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2644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4107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Evaluation protocol fixed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33375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8C7D0"/>
                </a:solidFill>
              </a:rPr>
              <a:t>LOSO is mandatory: no subject overlap, threshold chosen only on validation subject.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68680" y="4178808"/>
            <a:ext cx="1143000" cy="438912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3251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Baseline clean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8C7D0"/>
                </a:solidFill>
              </a:rPr>
              <a:t>Hierarchical body+cold baseline reruns reproducibly with all CSVs and failure tables.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868680" y="5093208"/>
            <a:ext cx="1143000" cy="438912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5239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40280" y="5166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Advanced methods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0" y="5166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8C7D0"/>
                </a:solidFill>
              </a:rPr>
              <a:t>Only then compare transfer learning, MedSAM-style priors, diffusion/GAN augmentation.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presentation boundary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7D0"/>
                </a:solidFill>
              </a:rPr>
              <a:t>Methods and results will be added after the dataset audit.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343400"/>
          </a:xfrm>
          <a:prstGeom prst="roundRect">
            <a:avLst>
              <a:gd name="adj" fmla="val 2947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E582"/>
                </a:solidFill>
              </a:rPr>
              <a:t>This deck covers now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25196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50" dirty="0">
                <a:solidFill>
                  <a:srgbClr val="F4F8FA"/>
                </a:solidFill>
              </a:rPr>
              <a:t>Problem statement and visualization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Clinical motivation and expected value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Literature framing for thermal imaging, low-data segmentation, and multi-rater labels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Dataset audit questions and required outputs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19088" y="1417320"/>
            <a:ext cx="5074920" cy="4343400"/>
          </a:xfrm>
          <a:prstGeom prst="roundRect">
            <a:avLst>
              <a:gd name="adj" fmla="val 2947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84D"/>
                </a:solidFill>
              </a:rPr>
              <a:t>To add later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39128" y="2331720"/>
            <a:ext cx="43434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50" dirty="0">
                <a:solidFill>
                  <a:srgbClr val="F4F8FA"/>
                </a:solidFill>
              </a:rPr>
              <a:t>Dataset audit findings with actual tables and visualization grids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Clean LOSO baseline design and metrics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Failure analysis subject-by-subject and image-by-image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Controlled experiments: transfer learning, MedSAM/GenAI augmentation, uncertainty model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77240" y="60533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84D"/>
                </a:solidFill>
              </a:rPr>
              <a:t>Core message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48840" y="6053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4F8FA"/>
                </a:solidFill>
              </a:rPr>
              <a:t>The project is promising, but the dataset must be understood before we can make a defensible modeling claim.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818A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80">
                <a:solidFill>
                  <a:srgbClr val="738791"/>
                </a:solidFill>
              </a:rPr>
              <a:t>KM abdominal cold-region segmentation • literature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EEF4F8"/>
                </a:solidFill>
              </a:rPr>
              <a:t>Key references for the literature-review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1115568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819">
                <a:solidFill>
                  <a:srgbClr val="AEBEC6"/>
                </a:solidFill>
              </a:rPr>
              <a:t>Short bibliography anchors; full citation list can be added later in manuscript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Thermal /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Wang T. et al. “Convolutional neural network-based computer-aided diagnosis in Hiesho (cold sensation).” Computers in Biology and Medicine, 145:105411, 2022.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Thermal / abdomen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Childs C. &amp; Soltani H. “Abdominal Cutaneous Thermography and Perfusion Mapping after Caesarean Section: A Scoping Review.” IJERPH, 17(22):8693, 2020.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58568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68296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Thermal / abdomen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Childs C. et al. “Cutaneous Perfusion Dynamics of the Lower Abdomen in Healthy Normal Weight, Overweight and Obese Women.” IJERPH, 20(6):5100, 2023.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58568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68296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KM biomarker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78608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Kim S. et al. “Clinical Utility of Abdominal-Peripheral Temperature Difference Measured via Infrared Thermography as an Objective Biomarker for Cold-Heat Pattern Identification.” Korean Journal of Acupuncture, 42(3):163–172, 2025.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74136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83864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Low-data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94176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Ronneberger O. et al. “U-Net: Convolutional Networks for Biomedical Image Segmentation.” MICCAI / LNCS 9351:234–241, 2015.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74136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83864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Low-data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94176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Isensee F. et al. “nnU-Net: a self-configuring method for deep learning-based biomedical image segmentation.” Nature Methods, 18(2):203–211, 2021.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89704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99432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Few-shot / GenAI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09744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Butoi V.I. et al. “UniverSeg: Universal Medical Image Segmentation.” ICCV, 2023.  •  Zhang L. et al. “Generative AI enables medical image segmentation in ultra low-data regimes.” Nature Communications, 2025.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9704"/>
            <a:ext cx="5349240" cy="914400"/>
          </a:xfrm>
          <a:prstGeom prst="roundRect">
            <a:avLst/>
          </a:prstGeom>
          <a:solidFill>
            <a:srgbClr val="0F1F27"/>
          </a:solidFill>
          <a:ln w="635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99432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" b="1">
                <a:solidFill>
                  <a:srgbClr val="FFB74D"/>
                </a:solidFill>
              </a:rPr>
              <a:t>Multi-rater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09744"/>
            <a:ext cx="5074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90">
                <a:solidFill>
                  <a:srgbClr val="EEF4F8"/>
                </a:solidFill>
              </a:rPr>
              <a:t>Silva J.L. &amp; Oliveira A.L. “Using Soft Labels to Model Uncertainty in Medical Image Segmentation.” arXiv:2109.12622, 2021.  •  Zhang L. et al. “Learning from multiple annotators for medical image segmentation.” Pattern Recognition, 138:109400,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 Abdominal Cold Region Segmentation</dc:title>
  <dc:subject>Abdominal thermal cold-region segmentation project</dc:subject>
  <dc:creator>OpenAI</dc:creator>
  <cp:lastModifiedBy>OpenAI</cp:lastModifiedBy>
  <cp:revision>1</cp:revision>
  <dcterms:created xsi:type="dcterms:W3CDTF">2026-06-19T03:08:32Z</dcterms:created>
  <dcterms:modified xsi:type="dcterms:W3CDTF">2026-06-19T03:08:32Z</dcterms:modified>
</cp:coreProperties>
</file>